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A6E"/>
        </a:solidFill>
      </p:bgPr>
    </p:bg>
    <p:spTree>
      <p:nvGrpSpPr>
        <p:cNvPr id="1" name=""/>
        <p:cNvGrpSpPr/>
        <p:nvPr/>
      </p:nvGrpSpPr>
      <p:grpSpPr>
        <a:xfrm>
          <a:off x="0" y="0"/>
          <a:ext cx="0" cy="0"/>
          <a:chOff x="0" y="0"/>
          <a:chExt cx="0" cy="0"/>
        </a:xfrm>
      </p:grpSpPr>
      <p:sp>
        <p:nvSpPr>
          <p:cNvPr id="2" name="Text 0"/>
          <p:cNvSpPr/>
          <p:nvPr/>
        </p:nvSpPr>
        <p:spPr>
          <a:xfrm>
            <a:off x="731520" y="1188720"/>
            <a:ext cx="7680960" cy="822960"/>
          </a:xfrm>
          <a:prstGeom prst="rect">
            <a:avLst/>
          </a:prstGeom>
          <a:noFill/>
          <a:ln/>
        </p:spPr>
        <p:txBody>
          <a:bodyPr wrap="square" lIns="0" tIns="0" rIns="0" bIns="0" rtlCol="0" anchor="t"/>
          <a:lstStyle/>
          <a:p>
            <a:pPr indent="0" marL="0">
              <a:buNone/>
            </a:pPr>
            <a:r>
              <a:rPr lang="en-US" sz="4000" b="1" dirty="0">
                <a:solidFill>
                  <a:srgbClr val="FFFFFF"/>
                </a:solidFill>
                <a:latin typeface="メイリオ" pitchFamily="34" charset="0"/>
                <a:ea typeface="メイリオ" pitchFamily="34" charset="-122"/>
                <a:cs typeface="メイリオ" pitchFamily="34" charset="-120"/>
              </a:rPr>
              <a:t>ACPのコミュニケーション</a:t>
            </a:r>
            <a:endParaRPr lang="en-US" sz="4000" dirty="0"/>
          </a:p>
        </p:txBody>
      </p:sp>
      <p:sp>
        <p:nvSpPr>
          <p:cNvPr id="3" name="Text 1"/>
          <p:cNvSpPr/>
          <p:nvPr/>
        </p:nvSpPr>
        <p:spPr>
          <a:xfrm>
            <a:off x="731520" y="2103120"/>
            <a:ext cx="7680960" cy="1005840"/>
          </a:xfrm>
          <a:prstGeom prst="rect">
            <a:avLst/>
          </a:prstGeom>
          <a:noFill/>
          <a:ln/>
        </p:spPr>
        <p:txBody>
          <a:bodyPr wrap="square" lIns="0" tIns="0" rIns="0" bIns="0" rtlCol="0" anchor="t"/>
          <a:lstStyle/>
          <a:p>
            <a:pPr indent="0" marL="0">
              <a:lnSpc>
                <a:spcPct val="120000"/>
              </a:lnSpc>
              <a:buNone/>
            </a:pPr>
            <a:r>
              <a:rPr lang="en-US" sz="2200" dirty="0">
                <a:solidFill>
                  <a:srgbClr val="FFFFFF"/>
                </a:solidFill>
                <a:latin typeface="メイリオ" pitchFamily="34" charset="0"/>
                <a:ea typeface="メイリオ" pitchFamily="34" charset="-122"/>
                <a:cs typeface="メイリオ" pitchFamily="34" charset="-120"/>
              </a:rPr>
              <a:t>楽しみから始めて、「受け入れられない状態」を</a:t>
            </a:r>
            <a:endParaRPr lang="en-US" sz="2200" dirty="0"/>
          </a:p>
          <a:p>
            <a:pPr indent="0" marL="0">
              <a:lnSpc>
                <a:spcPct val="120000"/>
              </a:lnSpc>
              <a:buNone/>
            </a:pPr>
            <a:r>
              <a:rPr lang="en-US" sz="2200" dirty="0">
                <a:solidFill>
                  <a:srgbClr val="FFFFFF"/>
                </a:solidFill>
                <a:latin typeface="メイリオ" pitchFamily="34" charset="0"/>
                <a:ea typeface="メイリオ" pitchFamily="34" charset="-122"/>
                <a:cs typeface="メイリオ" pitchFamily="34" charset="-120"/>
              </a:rPr>
              <a:t>本人の言葉で見つける</a:t>
            </a:r>
            <a:endParaRPr lang="en-US" sz="2200" dirty="0"/>
          </a:p>
        </p:txBody>
      </p:sp>
      <p:sp>
        <p:nvSpPr>
          <p:cNvPr id="4" name="Shape 2"/>
          <p:cNvSpPr/>
          <p:nvPr/>
        </p:nvSpPr>
        <p:spPr>
          <a:xfrm>
            <a:off x="731520" y="3337560"/>
            <a:ext cx="1097280" cy="54864"/>
          </a:xfrm>
          <a:prstGeom prst="rect">
            <a:avLst/>
          </a:prstGeom>
          <a:solidFill>
            <a:srgbClr val="C9661A"/>
          </a:solidFill>
          <a:ln w="12700">
            <a:solidFill>
              <a:srgbClr val="C9661A"/>
            </a:solidFill>
            <a:prstDash val="solid"/>
          </a:ln>
        </p:spPr>
      </p:sp>
      <p:sp>
        <p:nvSpPr>
          <p:cNvPr id="5" name="Text 3"/>
          <p:cNvSpPr/>
          <p:nvPr/>
        </p:nvSpPr>
        <p:spPr>
          <a:xfrm>
            <a:off x="731520" y="3566160"/>
            <a:ext cx="7680960" cy="411480"/>
          </a:xfrm>
          <a:prstGeom prst="rect">
            <a:avLst/>
          </a:prstGeom>
          <a:noFill/>
          <a:ln/>
        </p:spPr>
        <p:txBody>
          <a:bodyPr wrap="square" lIns="0" tIns="0" rIns="0" bIns="0" rtlCol="0" anchor="t"/>
          <a:lstStyle/>
          <a:p>
            <a:pPr indent="0" marL="0">
              <a:buNone/>
            </a:pPr>
            <a:r>
              <a:rPr lang="en-US" sz="1800" dirty="0">
                <a:solidFill>
                  <a:srgbClr val="FFFFFF"/>
                </a:solidFill>
                <a:latin typeface="メイリオ" pitchFamily="34" charset="0"/>
                <a:ea typeface="メイリオ" pitchFamily="34" charset="-122"/>
                <a:cs typeface="メイリオ" pitchFamily="34" charset="-120"/>
              </a:rPr>
              <a:t>心不全診療を中心に</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2</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ACPの会話のゴール</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何を聞き出せたら「話し合えた」と言えるのか</a:t>
            </a:r>
            <a:endParaRPr lang="en-US" sz="1700" dirty="0"/>
          </a:p>
        </p:txBody>
      </p:sp>
      <p:sp>
        <p:nvSpPr>
          <p:cNvPr id="6" name="Shape 4"/>
          <p:cNvSpPr/>
          <p:nvPr/>
        </p:nvSpPr>
        <p:spPr>
          <a:xfrm>
            <a:off x="457200" y="1417320"/>
            <a:ext cx="8229600" cy="1417320"/>
          </a:xfrm>
          <a:prstGeom prst="rect">
            <a:avLst/>
          </a:prstGeom>
          <a:solidFill>
            <a:srgbClr val="FBF0E4"/>
          </a:solidFill>
          <a:ln w="15875">
            <a:solidFill>
              <a:srgbClr val="C9661A"/>
            </a:solidFill>
            <a:prstDash val="solid"/>
          </a:ln>
        </p:spPr>
      </p:sp>
      <p:sp>
        <p:nvSpPr>
          <p:cNvPr id="7" name="Text 5"/>
          <p:cNvSpPr/>
          <p:nvPr/>
        </p:nvSpPr>
        <p:spPr>
          <a:xfrm>
            <a:off x="731520" y="1508760"/>
            <a:ext cx="7680960" cy="1234440"/>
          </a:xfrm>
          <a:prstGeom prst="rect">
            <a:avLst/>
          </a:prstGeom>
          <a:noFill/>
          <a:ln/>
        </p:spPr>
        <p:txBody>
          <a:bodyPr wrap="square" lIns="0" tIns="0" rIns="0" bIns="0" rtlCol="0" anchor="ctr"/>
          <a:lstStyle/>
          <a:p>
            <a:pPr indent="0" marL="0">
              <a:lnSpc>
                <a:spcPct val="115000"/>
              </a:lnSpc>
              <a:buNone/>
            </a:pPr>
            <a:r>
              <a:rPr lang="en-US" sz="2000" b="1" dirty="0">
                <a:solidFill>
                  <a:srgbClr val="12324A"/>
                </a:solidFill>
                <a:latin typeface="メイリオ" pitchFamily="34" charset="0"/>
                <a:ea typeface="メイリオ" pitchFamily="34" charset="-122"/>
                <a:cs typeface="メイリオ" pitchFamily="34" charset="-120"/>
              </a:rPr>
              <a:t>「この状態になったら、自分にとって生きている意味がない」
</a:t>
            </a:r>
            <a:pPr indent="0" marL="0">
              <a:lnSpc>
                <a:spcPct val="115000"/>
              </a:lnSpc>
              <a:buNone/>
            </a:pPr>
            <a:r>
              <a:rPr lang="en-US" sz="2000" dirty="0">
                <a:solidFill>
                  <a:srgbClr val="12324A"/>
                </a:solidFill>
                <a:latin typeface="メイリオ" pitchFamily="34" charset="0"/>
                <a:ea typeface="メイリオ" pitchFamily="34" charset="-122"/>
                <a:cs typeface="メイリオ" pitchFamily="34" charset="-120"/>
              </a:rPr>
              <a:t>という本人の </a:t>
            </a:r>
            <a:pPr indent="0" marL="0">
              <a:lnSpc>
                <a:spcPct val="115000"/>
              </a:lnSpc>
              <a:buNone/>
            </a:pPr>
            <a:r>
              <a:rPr lang="en-US" sz="3000" b="1" dirty="0">
                <a:solidFill>
                  <a:srgbClr val="C9661A"/>
                </a:solidFill>
                <a:latin typeface="メイリオ" pitchFamily="34" charset="0"/>
                <a:ea typeface="メイリオ" pitchFamily="34" charset="-122"/>
                <a:cs typeface="メイリオ" pitchFamily="34" charset="-120"/>
              </a:rPr>
              <a:t>下限ライン</a:t>
            </a:r>
            <a:pPr indent="0" marL="0">
              <a:lnSpc>
                <a:spcPct val="115000"/>
              </a:lnSpc>
              <a:buNone/>
            </a:pPr>
            <a:r>
              <a:rPr lang="en-US" sz="2000" dirty="0">
                <a:solidFill>
                  <a:srgbClr val="12324A"/>
                </a:solidFill>
                <a:latin typeface="メイリオ" pitchFamily="34" charset="0"/>
                <a:ea typeface="メイリオ" pitchFamily="34" charset="-122"/>
                <a:cs typeface="メイリオ" pitchFamily="34" charset="-120"/>
              </a:rPr>
              <a:t> を、本人の言葉で特定する</a:t>
            </a:r>
            <a:endParaRPr lang="en-US" sz="1800" dirty="0"/>
          </a:p>
        </p:txBody>
      </p:sp>
      <p:sp>
        <p:nvSpPr>
          <p:cNvPr id="8" name="Text 6"/>
          <p:cNvSpPr/>
          <p:nvPr/>
        </p:nvSpPr>
        <p:spPr>
          <a:xfrm>
            <a:off x="457200" y="3063240"/>
            <a:ext cx="8229600" cy="1371600"/>
          </a:xfrm>
          <a:prstGeom prst="rect">
            <a:avLst/>
          </a:prstGeom>
          <a:noFill/>
          <a:ln/>
        </p:spPr>
        <p:txBody>
          <a:bodyPr wrap="square" lIns="0" tIns="0" rIns="0" bIns="0" rtlCol="0" anchor="t"/>
          <a:lstStyle/>
          <a:p>
            <a:pPr indent="0" marL="0">
              <a:lnSpc>
                <a:spcPct val="120000"/>
              </a:lnSpc>
              <a:buNone/>
            </a:pPr>
            <a:r>
              <a:rPr lang="en-US" sz="1800" b="1" dirty="0">
                <a:solidFill>
                  <a:srgbClr val="12324A"/>
                </a:solidFill>
                <a:latin typeface="メイリオ" pitchFamily="34" charset="0"/>
                <a:ea typeface="メイリオ" pitchFamily="34" charset="-122"/>
                <a:cs typeface="メイリオ" pitchFamily="34" charset="-120"/>
              </a:rPr>
              <a:t>なぜ必要か
</a:t>
            </a:r>
            <a:pPr indent="0" marL="0">
              <a:lnSpc>
                <a:spcPct val="120000"/>
              </a:lnSpc>
              <a:buNone/>
            </a:pPr>
            <a:r>
              <a:rPr lang="en-US" sz="1800" dirty="0">
                <a:solidFill>
                  <a:srgbClr val="12324A"/>
                </a:solidFill>
                <a:latin typeface="メイリオ" pitchFamily="34" charset="0"/>
                <a:ea typeface="メイリオ" pitchFamily="34" charset="-122"/>
                <a:cs typeface="メイリオ" pitchFamily="34" charset="-120"/>
              </a:rPr>
              <a:t>ICU入室・補助循環／LVAD・ICD停止・緩和ケアへの移行などの判断を、</a:t>
            </a:r>
            <a:pPr indent="0" marL="0">
              <a:lnSpc>
                <a:spcPct val="120000"/>
              </a:lnSpc>
              <a:buNone/>
            </a:pPr>
            <a:r>
              <a:rPr lang="en-US" sz="1800" b="1" dirty="0">
                <a:solidFill>
                  <a:srgbClr val="12324A"/>
                </a:solidFill>
                <a:latin typeface="メイリオ" pitchFamily="34" charset="0"/>
                <a:ea typeface="メイリオ" pitchFamily="34" charset="-122"/>
                <a:cs typeface="メイリオ" pitchFamily="34" charset="-120"/>
              </a:rPr>
              <a:t>医療者の想定ではなく本人の価値観</a:t>
            </a:r>
            <a:pPr indent="0" marL="0">
              <a:lnSpc>
                <a:spcPct val="120000"/>
              </a:lnSpc>
              <a:buNone/>
            </a:pPr>
            <a:r>
              <a:rPr lang="en-US" sz="1800" dirty="0">
                <a:solidFill>
                  <a:srgbClr val="12324A"/>
                </a:solidFill>
                <a:latin typeface="メイリオ" pitchFamily="34" charset="0"/>
                <a:ea typeface="メイリオ" pitchFamily="34" charset="-122"/>
                <a:cs typeface="メイリオ" pitchFamily="34" charset="-120"/>
              </a:rPr>
              <a:t>に結びつけて行えるようになるから</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3</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全体構造：3つの要素</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左から右へ「話題の順序」→「深め方」→「聞き出したいもの」</a:t>
            </a:r>
            <a:endParaRPr lang="en-US" sz="1700" dirty="0"/>
          </a:p>
        </p:txBody>
      </p:sp>
      <p:sp>
        <p:nvSpPr>
          <p:cNvPr id="6" name="Shape 4"/>
          <p:cNvSpPr/>
          <p:nvPr/>
        </p:nvSpPr>
        <p:spPr>
          <a:xfrm>
            <a:off x="457200" y="1417320"/>
            <a:ext cx="2514600" cy="731520"/>
          </a:xfrm>
          <a:prstGeom prst="rect">
            <a:avLst/>
          </a:prstGeom>
          <a:solidFill>
            <a:srgbClr val="1E4A6E"/>
          </a:solidFill>
          <a:ln w="15875">
            <a:solidFill>
              <a:srgbClr val="1E4A6E"/>
            </a:solidFill>
            <a:prstDash val="solid"/>
          </a:ln>
        </p:spPr>
      </p:sp>
      <p:sp>
        <p:nvSpPr>
          <p:cNvPr id="7" name="Text 5"/>
          <p:cNvSpPr/>
          <p:nvPr/>
        </p:nvSpPr>
        <p:spPr>
          <a:xfrm>
            <a:off x="548640" y="1463040"/>
            <a:ext cx="233172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メイリオ" pitchFamily="34" charset="0"/>
                <a:ea typeface="メイリオ" pitchFamily="34" charset="-122"/>
                <a:cs typeface="メイリオ" pitchFamily="34" charset="-120"/>
              </a:rPr>
              <a:t>① オープニング
</a:t>
            </a:r>
            <a:pPr algn="ctr" indent="0" marL="0">
              <a:buNone/>
            </a:pPr>
            <a:r>
              <a:rPr lang="en-US" sz="1400" dirty="0">
                <a:solidFill>
                  <a:srgbClr val="FFFFFF"/>
                </a:solidFill>
                <a:latin typeface="メイリオ" pitchFamily="34" charset="0"/>
                <a:ea typeface="メイリオ" pitchFamily="34" charset="-122"/>
                <a:cs typeface="メイリオ" pitchFamily="34" charset="-120"/>
              </a:rPr>
              <a:t>話題の順序</a:t>
            </a:r>
            <a:endParaRPr lang="en-US" sz="1800" dirty="0"/>
          </a:p>
        </p:txBody>
      </p:sp>
      <p:sp>
        <p:nvSpPr>
          <p:cNvPr id="8" name="Shape 6"/>
          <p:cNvSpPr/>
          <p:nvPr/>
        </p:nvSpPr>
        <p:spPr>
          <a:xfrm>
            <a:off x="457200" y="2148840"/>
            <a:ext cx="2514600" cy="2514600"/>
          </a:xfrm>
          <a:prstGeom prst="rect">
            <a:avLst/>
          </a:prstGeom>
          <a:solidFill>
            <a:srgbClr val="EAF2F7"/>
          </a:solidFill>
          <a:ln w="15875">
            <a:solidFill>
              <a:srgbClr val="EAF2F7"/>
            </a:solidFill>
            <a:prstDash val="solid"/>
          </a:ln>
        </p:spPr>
      </p:sp>
      <p:sp>
        <p:nvSpPr>
          <p:cNvPr id="9" name="Text 7"/>
          <p:cNvSpPr/>
          <p:nvPr/>
        </p:nvSpPr>
        <p:spPr>
          <a:xfrm>
            <a:off x="548640" y="2240280"/>
            <a:ext cx="2331720" cy="2331720"/>
          </a:xfrm>
          <a:prstGeom prst="rect">
            <a:avLst/>
          </a:prstGeom>
          <a:noFill/>
          <a:ln/>
        </p:spPr>
        <p:txBody>
          <a:bodyPr wrap="square" lIns="0" tIns="0" rIns="0" bIns="0" rtlCol="0" anchor="ctr"/>
          <a:lstStyle/>
          <a:p>
            <a:pPr algn="ctr" indent="0" marL="0">
              <a:buNone/>
            </a:pPr>
            <a:r>
              <a:rPr lang="en-US" sz="1600" b="1" dirty="0">
                <a:solidFill>
                  <a:srgbClr val="12324A"/>
                </a:solidFill>
                <a:latin typeface="メイリオ" pitchFamily="34" charset="0"/>
                <a:ea typeface="メイリオ" pitchFamily="34" charset="-122"/>
                <a:cs typeface="メイリオ" pitchFamily="34" charset="-120"/>
              </a:rPr>
              <a:t>楽しみ</a:t>
            </a:r>
            <a:endParaRPr lang="en-US" sz="1600" dirty="0"/>
          </a:p>
          <a:p>
            <a:pPr algn="ctr" indent="0" marL="0">
              <a:buNone/>
            </a:pPr>
            <a:r>
              <a:rPr lang="en-US" sz="1600" b="1" dirty="0">
                <a:solidFill>
                  <a:srgbClr val="12324A"/>
                </a:solidFill>
                <a:latin typeface="メイリオ" pitchFamily="34" charset="0"/>
                <a:ea typeface="メイリオ" pitchFamily="34" charset="-122"/>
                <a:cs typeface="メイリオ" pitchFamily="34" charset="-120"/>
              </a:rPr>
              <a:t>↓</a:t>
            </a:r>
            <a:endParaRPr lang="en-US" sz="1600" dirty="0"/>
          </a:p>
          <a:p>
            <a:pPr algn="ctr" indent="0" marL="0">
              <a:buNone/>
            </a:pPr>
            <a:r>
              <a:rPr lang="en-US" sz="1600" b="1" dirty="0">
                <a:solidFill>
                  <a:srgbClr val="12324A"/>
                </a:solidFill>
                <a:latin typeface="メイリオ" pitchFamily="34" charset="0"/>
                <a:ea typeface="メイリオ" pitchFamily="34" charset="-122"/>
                <a:cs typeface="メイリオ" pitchFamily="34" charset="-120"/>
              </a:rPr>
              <a:t>生きがい</a:t>
            </a:r>
            <a:endParaRPr lang="en-US" sz="1600" dirty="0"/>
          </a:p>
          <a:p>
            <a:pPr algn="ctr" indent="0" marL="0">
              <a:buNone/>
            </a:pPr>
            <a:r>
              <a:rPr lang="en-US" sz="1600" b="1" dirty="0">
                <a:solidFill>
                  <a:srgbClr val="12324A"/>
                </a:solidFill>
                <a:latin typeface="メイリオ" pitchFamily="34" charset="0"/>
                <a:ea typeface="メイリオ" pitchFamily="34" charset="-122"/>
                <a:cs typeface="メイリオ" pitchFamily="34" charset="-120"/>
              </a:rPr>
              <a:t>↓</a:t>
            </a:r>
            <a:endParaRPr lang="en-US" sz="1600" dirty="0"/>
          </a:p>
          <a:p>
            <a:pPr algn="ctr" indent="0" marL="0">
              <a:buNone/>
            </a:pPr>
            <a:r>
              <a:rPr lang="en-US" sz="1600" b="1" dirty="0">
                <a:solidFill>
                  <a:srgbClr val="12324A"/>
                </a:solidFill>
                <a:latin typeface="メイリオ" pitchFamily="34" charset="0"/>
                <a:ea typeface="メイリオ" pitchFamily="34" charset="-122"/>
                <a:cs typeface="メイリオ" pitchFamily="34" charset="-120"/>
              </a:rPr>
              <a:t>気がかり</a:t>
            </a:r>
            <a:endParaRPr lang="en-US" sz="1600" dirty="0"/>
          </a:p>
          <a:p>
            <a:pPr algn="ctr" indent="0" marL="0">
              <a:buNone/>
            </a:pPr>
            <a:r>
              <a:rPr lang="en-US" sz="1600" b="1" dirty="0">
                <a:solidFill>
                  <a:srgbClr val="12324A"/>
                </a:solidFill>
                <a:latin typeface="メイリオ" pitchFamily="34" charset="0"/>
                <a:ea typeface="メイリオ" pitchFamily="34" charset="-122"/>
                <a:cs typeface="メイリオ" pitchFamily="34" charset="-120"/>
              </a:rPr>
              <a:t>↓</a:t>
            </a:r>
            <a:endParaRPr lang="en-US" sz="1600" dirty="0"/>
          </a:p>
          <a:p>
            <a:pPr algn="ctr" indent="0" marL="0">
              <a:buNone/>
            </a:pPr>
            <a:r>
              <a:rPr lang="en-US" sz="1600" b="1" dirty="0">
                <a:solidFill>
                  <a:srgbClr val="12324A"/>
                </a:solidFill>
                <a:latin typeface="メイリオ" pitchFamily="34" charset="0"/>
                <a:ea typeface="メイリオ" pitchFamily="34" charset="-122"/>
                <a:cs typeface="メイリオ" pitchFamily="34" charset="-120"/>
              </a:rPr>
              <a:t>生きている意味がない</a:t>
            </a:r>
            <a:endParaRPr lang="en-US" sz="1600" dirty="0"/>
          </a:p>
        </p:txBody>
      </p:sp>
      <p:sp>
        <p:nvSpPr>
          <p:cNvPr id="10" name="Shape 8"/>
          <p:cNvSpPr/>
          <p:nvPr/>
        </p:nvSpPr>
        <p:spPr>
          <a:xfrm>
            <a:off x="3026664" y="3154680"/>
            <a:ext cx="256032" cy="365760"/>
          </a:xfrm>
          <a:prstGeom prst="rightArrow">
            <a:avLst/>
          </a:prstGeom>
          <a:solidFill>
            <a:srgbClr val="C9661A"/>
          </a:solidFill>
          <a:ln w="12700">
            <a:solidFill>
              <a:srgbClr val="C9661A"/>
            </a:solidFill>
            <a:prstDash val="solid"/>
          </a:ln>
        </p:spPr>
      </p:sp>
      <p:sp>
        <p:nvSpPr>
          <p:cNvPr id="11" name="Shape 9"/>
          <p:cNvSpPr/>
          <p:nvPr/>
        </p:nvSpPr>
        <p:spPr>
          <a:xfrm>
            <a:off x="3337560" y="1417320"/>
            <a:ext cx="2514600" cy="731520"/>
          </a:xfrm>
          <a:prstGeom prst="rect">
            <a:avLst/>
          </a:prstGeom>
          <a:solidFill>
            <a:srgbClr val="1E4A6E"/>
          </a:solidFill>
          <a:ln w="15875">
            <a:solidFill>
              <a:srgbClr val="1E4A6E"/>
            </a:solidFill>
            <a:prstDash val="solid"/>
          </a:ln>
        </p:spPr>
      </p:sp>
      <p:sp>
        <p:nvSpPr>
          <p:cNvPr id="12" name="Text 10"/>
          <p:cNvSpPr/>
          <p:nvPr/>
        </p:nvSpPr>
        <p:spPr>
          <a:xfrm>
            <a:off x="3429000" y="1463040"/>
            <a:ext cx="233172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メイリオ" pitchFamily="34" charset="0"/>
                <a:ea typeface="メイリオ" pitchFamily="34" charset="-122"/>
                <a:cs typeface="メイリオ" pitchFamily="34" charset="-120"/>
              </a:rPr>
              <a:t>② フォローアップ
</a:t>
            </a:r>
            <a:pPr algn="ctr" indent="0" marL="0">
              <a:buNone/>
            </a:pPr>
            <a:r>
              <a:rPr lang="en-US" sz="1400" dirty="0">
                <a:solidFill>
                  <a:srgbClr val="FFFFFF"/>
                </a:solidFill>
                <a:latin typeface="メイリオ" pitchFamily="34" charset="0"/>
                <a:ea typeface="メイリオ" pitchFamily="34" charset="-122"/>
                <a:cs typeface="メイリオ" pitchFamily="34" charset="-120"/>
              </a:rPr>
              <a:t>会話の深め方</a:t>
            </a:r>
            <a:endParaRPr lang="en-US" sz="1800" dirty="0"/>
          </a:p>
        </p:txBody>
      </p:sp>
      <p:sp>
        <p:nvSpPr>
          <p:cNvPr id="13" name="Shape 11"/>
          <p:cNvSpPr/>
          <p:nvPr/>
        </p:nvSpPr>
        <p:spPr>
          <a:xfrm>
            <a:off x="3337560" y="2148840"/>
            <a:ext cx="2514600" cy="2514600"/>
          </a:xfrm>
          <a:prstGeom prst="rect">
            <a:avLst/>
          </a:prstGeom>
          <a:solidFill>
            <a:srgbClr val="EAF2F7"/>
          </a:solidFill>
          <a:ln w="15875">
            <a:solidFill>
              <a:srgbClr val="EAF2F7"/>
            </a:solidFill>
            <a:prstDash val="solid"/>
          </a:ln>
        </p:spPr>
      </p:sp>
      <p:sp>
        <p:nvSpPr>
          <p:cNvPr id="14" name="Text 12"/>
          <p:cNvSpPr/>
          <p:nvPr/>
        </p:nvSpPr>
        <p:spPr>
          <a:xfrm>
            <a:off x="3429000" y="2240280"/>
            <a:ext cx="2331720" cy="2331720"/>
          </a:xfrm>
          <a:prstGeom prst="rect">
            <a:avLst/>
          </a:prstGeom>
          <a:noFill/>
          <a:ln/>
        </p:spPr>
        <p:txBody>
          <a:bodyPr wrap="square" lIns="0" tIns="0" rIns="0" bIns="0" rtlCol="0" anchor="ctr"/>
          <a:lstStyle/>
          <a:p>
            <a:pPr algn="ctr" indent="0" marL="0">
              <a:buNone/>
            </a:pPr>
            <a:r>
              <a:rPr lang="en-US" sz="1600" dirty="0">
                <a:solidFill>
                  <a:srgbClr val="12324A"/>
                </a:solidFill>
                <a:latin typeface="メイリオ" pitchFamily="34" charset="0"/>
                <a:ea typeface="メイリオ" pitchFamily="34" charset="-122"/>
                <a:cs typeface="メイリオ" pitchFamily="34" charset="-120"/>
              </a:rPr>
              <a:t>Tell me more</a:t>
            </a:r>
            <a:endParaRPr lang="en-US" sz="1600" dirty="0"/>
          </a:p>
          <a:p>
            <a:pPr algn="ctr" indent="0" marL="0">
              <a:buNone/>
            </a:pPr>
            <a:r>
              <a:rPr lang="en-US" sz="1600" dirty="0">
                <a:solidFill>
                  <a:srgbClr val="12324A"/>
                </a:solidFill>
                <a:latin typeface="メイリオ" pitchFamily="34" charset="0"/>
                <a:ea typeface="メイリオ" pitchFamily="34" charset="-122"/>
                <a:cs typeface="メイリオ" pitchFamily="34" charset="-120"/>
              </a:rPr>
              <a:t>（もう少し教えて）</a:t>
            </a:r>
            <a:endParaRPr lang="en-US" sz="1600" dirty="0"/>
          </a:p>
          <a:p>
            <a:pPr algn="ctr" indent="0" marL="0">
              <a:buNone/>
            </a:pPr>
            <a:endParaRPr lang="en-US" sz="1600" dirty="0"/>
          </a:p>
          <a:p>
            <a:pPr algn="ctr" indent="0" marL="0">
              <a:buNone/>
            </a:pPr>
            <a:r>
              <a:rPr lang="en-US" sz="1600" dirty="0">
                <a:solidFill>
                  <a:srgbClr val="12324A"/>
                </a:solidFill>
                <a:latin typeface="メイリオ" pitchFamily="34" charset="0"/>
                <a:ea typeface="メイリオ" pitchFamily="34" charset="-122"/>
                <a:cs typeface="メイリオ" pitchFamily="34" charset="-120"/>
              </a:rPr>
              <a:t>Why?</a:t>
            </a:r>
            <a:endParaRPr lang="en-US" sz="1600" dirty="0"/>
          </a:p>
          <a:p>
            <a:pPr algn="ctr" indent="0" marL="0">
              <a:buNone/>
            </a:pPr>
            <a:r>
              <a:rPr lang="en-US" sz="1600" dirty="0">
                <a:solidFill>
                  <a:srgbClr val="12324A"/>
                </a:solidFill>
                <a:latin typeface="メイリオ" pitchFamily="34" charset="0"/>
                <a:ea typeface="メイリオ" pitchFamily="34" charset="-122"/>
                <a:cs typeface="メイリオ" pitchFamily="34" charset="-120"/>
              </a:rPr>
              <a:t>（なぜそう思う？）</a:t>
            </a:r>
            <a:endParaRPr lang="en-US" sz="1600" dirty="0"/>
          </a:p>
          <a:p>
            <a:pPr algn="ctr" indent="0" marL="0">
              <a:buNone/>
            </a:pPr>
            <a:endParaRPr lang="en-US" sz="1600" dirty="0"/>
          </a:p>
          <a:p>
            <a:pPr algn="ctr" indent="0" marL="0">
              <a:buNone/>
            </a:pPr>
            <a:r>
              <a:rPr lang="en-US" sz="1600" dirty="0">
                <a:solidFill>
                  <a:srgbClr val="12324A"/>
                </a:solidFill>
                <a:latin typeface="メイリオ" pitchFamily="34" charset="0"/>
                <a:ea typeface="メイリオ" pitchFamily="34" charset="-122"/>
                <a:cs typeface="メイリオ" pitchFamily="34" charset="-120"/>
              </a:rPr>
              <a:t>What else?</a:t>
            </a:r>
            <a:endParaRPr lang="en-US" sz="1600" dirty="0"/>
          </a:p>
          <a:p>
            <a:pPr algn="ctr" indent="0" marL="0">
              <a:buNone/>
            </a:pPr>
            <a:r>
              <a:rPr lang="en-US" sz="1600" dirty="0">
                <a:solidFill>
                  <a:srgbClr val="12324A"/>
                </a:solidFill>
                <a:latin typeface="メイリオ" pitchFamily="34" charset="0"/>
                <a:ea typeface="メイリオ" pitchFamily="34" charset="-122"/>
                <a:cs typeface="メイリオ" pitchFamily="34" charset="-120"/>
              </a:rPr>
              <a:t>（他には？）</a:t>
            </a:r>
            <a:endParaRPr lang="en-US" sz="1600" dirty="0"/>
          </a:p>
        </p:txBody>
      </p:sp>
      <p:sp>
        <p:nvSpPr>
          <p:cNvPr id="15" name="Shape 13"/>
          <p:cNvSpPr/>
          <p:nvPr/>
        </p:nvSpPr>
        <p:spPr>
          <a:xfrm>
            <a:off x="5907024" y="3154680"/>
            <a:ext cx="256032" cy="365760"/>
          </a:xfrm>
          <a:prstGeom prst="rightArrow">
            <a:avLst/>
          </a:prstGeom>
          <a:solidFill>
            <a:srgbClr val="C9661A"/>
          </a:solidFill>
          <a:ln w="12700">
            <a:solidFill>
              <a:srgbClr val="C9661A"/>
            </a:solidFill>
            <a:prstDash val="solid"/>
          </a:ln>
        </p:spPr>
      </p:sp>
      <p:sp>
        <p:nvSpPr>
          <p:cNvPr id="16" name="Shape 14"/>
          <p:cNvSpPr/>
          <p:nvPr/>
        </p:nvSpPr>
        <p:spPr>
          <a:xfrm>
            <a:off x="6217920" y="1417320"/>
            <a:ext cx="2514600" cy="731520"/>
          </a:xfrm>
          <a:prstGeom prst="rect">
            <a:avLst/>
          </a:prstGeom>
          <a:solidFill>
            <a:srgbClr val="B23A2B"/>
          </a:solidFill>
          <a:ln w="15875">
            <a:solidFill>
              <a:srgbClr val="B23A2B"/>
            </a:solidFill>
            <a:prstDash val="solid"/>
          </a:ln>
        </p:spPr>
      </p:sp>
      <p:sp>
        <p:nvSpPr>
          <p:cNvPr id="17" name="Text 15"/>
          <p:cNvSpPr/>
          <p:nvPr/>
        </p:nvSpPr>
        <p:spPr>
          <a:xfrm>
            <a:off x="6309360" y="1463040"/>
            <a:ext cx="233172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メイリオ" pitchFamily="34" charset="0"/>
                <a:ea typeface="メイリオ" pitchFamily="34" charset="-122"/>
                <a:cs typeface="メイリオ" pitchFamily="34" charset="-120"/>
              </a:rPr>
              <a:t>③ ゴール
</a:t>
            </a:r>
            <a:pPr algn="ctr" indent="0" marL="0">
              <a:buNone/>
            </a:pPr>
            <a:r>
              <a:rPr lang="en-US" sz="1400" dirty="0">
                <a:solidFill>
                  <a:srgbClr val="FFFFFF"/>
                </a:solidFill>
                <a:latin typeface="メイリオ" pitchFamily="34" charset="0"/>
                <a:ea typeface="メイリオ" pitchFamily="34" charset="-122"/>
                <a:cs typeface="メイリオ" pitchFamily="34" charset="-120"/>
              </a:rPr>
              <a:t>聞き出したいもの</a:t>
            </a:r>
            <a:endParaRPr lang="en-US" sz="1800" dirty="0"/>
          </a:p>
        </p:txBody>
      </p:sp>
      <p:sp>
        <p:nvSpPr>
          <p:cNvPr id="18" name="Shape 16"/>
          <p:cNvSpPr/>
          <p:nvPr/>
        </p:nvSpPr>
        <p:spPr>
          <a:xfrm>
            <a:off x="6217920" y="2148840"/>
            <a:ext cx="2514600" cy="2514600"/>
          </a:xfrm>
          <a:prstGeom prst="rect">
            <a:avLst/>
          </a:prstGeom>
          <a:solidFill>
            <a:srgbClr val="FBF0E4"/>
          </a:solidFill>
          <a:ln w="15875">
            <a:solidFill>
              <a:srgbClr val="FBF0E4"/>
            </a:solidFill>
            <a:prstDash val="solid"/>
          </a:ln>
        </p:spPr>
      </p:sp>
      <p:sp>
        <p:nvSpPr>
          <p:cNvPr id="19" name="Text 17"/>
          <p:cNvSpPr/>
          <p:nvPr/>
        </p:nvSpPr>
        <p:spPr>
          <a:xfrm>
            <a:off x="6309360" y="2240280"/>
            <a:ext cx="2331720" cy="2331720"/>
          </a:xfrm>
          <a:prstGeom prst="rect">
            <a:avLst/>
          </a:prstGeom>
          <a:noFill/>
          <a:ln/>
        </p:spPr>
        <p:txBody>
          <a:bodyPr wrap="square" lIns="0" tIns="0" rIns="0" bIns="0" rtlCol="0" anchor="ctr"/>
          <a:lstStyle/>
          <a:p>
            <a:pPr algn="ctr" indent="0" marL="0">
              <a:buNone/>
            </a:pPr>
            <a:r>
              <a:rPr lang="en-US" sz="1600" dirty="0">
                <a:solidFill>
                  <a:srgbClr val="12324A"/>
                </a:solidFill>
                <a:latin typeface="メイリオ" pitchFamily="34" charset="0"/>
                <a:ea typeface="メイリオ" pitchFamily="34" charset="-122"/>
                <a:cs typeface="メイリオ" pitchFamily="34" charset="-120"/>
              </a:rPr>
              <a:t>健康・生活状態のうち</a:t>
            </a:r>
            <a:endParaRPr lang="en-US" sz="1600" dirty="0"/>
          </a:p>
          <a:p>
            <a:pPr algn="ctr" indent="0" marL="0">
              <a:buNone/>
            </a:pPr>
            <a:r>
              <a:rPr lang="en-US" sz="1600" dirty="0">
                <a:solidFill>
                  <a:srgbClr val="12324A"/>
                </a:solidFill>
                <a:latin typeface="メイリオ" pitchFamily="34" charset="0"/>
                <a:ea typeface="メイリオ" pitchFamily="34" charset="-122"/>
                <a:cs typeface="メイリオ" pitchFamily="34" charset="-120"/>
              </a:rPr>
              <a:t>「ここより下は</a:t>
            </a:r>
            <a:endParaRPr lang="en-US" sz="1600" dirty="0"/>
          </a:p>
          <a:p>
            <a:pPr algn="ctr" indent="0" marL="0">
              <a:buNone/>
            </a:pPr>
            <a:r>
              <a:rPr lang="en-US" sz="1600" dirty="0">
                <a:solidFill>
                  <a:srgbClr val="12324A"/>
                </a:solidFill>
                <a:latin typeface="メイリオ" pitchFamily="34" charset="0"/>
                <a:ea typeface="メイリオ" pitchFamily="34" charset="-122"/>
                <a:cs typeface="メイリオ" pitchFamily="34" charset="-120"/>
              </a:rPr>
              <a:t>受け入れられない」</a:t>
            </a:r>
            <a:endParaRPr lang="en-US" sz="1600" dirty="0"/>
          </a:p>
          <a:p>
            <a:pPr algn="ctr" indent="0" marL="0">
              <a:buNone/>
            </a:pPr>
            <a:r>
              <a:rPr lang="en-US" sz="1600" dirty="0">
                <a:solidFill>
                  <a:srgbClr val="12324A"/>
                </a:solidFill>
                <a:latin typeface="メイリオ" pitchFamily="34" charset="0"/>
                <a:ea typeface="メイリオ" pitchFamily="34" charset="-122"/>
                <a:cs typeface="メイリオ" pitchFamily="34" charset="-120"/>
              </a:rPr>
              <a:t>という線の位置</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4</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① オープニング：話題の順序</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答えやすい前向きな話題から、重い話題へ段階的に</a:t>
            </a:r>
            <a:endParaRPr lang="en-US" sz="1700" dirty="0"/>
          </a:p>
        </p:txBody>
      </p:sp>
      <p:sp>
        <p:nvSpPr>
          <p:cNvPr id="6" name="Shape 4"/>
          <p:cNvSpPr/>
          <p:nvPr/>
        </p:nvSpPr>
        <p:spPr>
          <a:xfrm>
            <a:off x="457200" y="1463040"/>
            <a:ext cx="1938528" cy="3154680"/>
          </a:xfrm>
          <a:prstGeom prst="rect">
            <a:avLst/>
          </a:prstGeom>
          <a:solidFill>
            <a:srgbClr val="DCEBF5"/>
          </a:solidFill>
          <a:ln w="15875">
            <a:solidFill>
              <a:srgbClr val="DCEBF5"/>
            </a:solidFill>
            <a:prstDash val="solid"/>
          </a:ln>
        </p:spPr>
      </p:sp>
      <p:sp>
        <p:nvSpPr>
          <p:cNvPr id="7" name="Text 5"/>
          <p:cNvSpPr/>
          <p:nvPr/>
        </p:nvSpPr>
        <p:spPr>
          <a:xfrm>
            <a:off x="530352" y="1572768"/>
            <a:ext cx="1792224" cy="822960"/>
          </a:xfrm>
          <a:prstGeom prst="rect">
            <a:avLst/>
          </a:prstGeom>
          <a:noFill/>
          <a:ln/>
        </p:spPr>
        <p:txBody>
          <a:bodyPr wrap="square" lIns="0" tIns="0" rIns="0" bIns="0" rtlCol="0" anchor="ctr"/>
          <a:lstStyle/>
          <a:p>
            <a:pPr algn="ctr" indent="0" marL="0">
              <a:buNone/>
            </a:pPr>
            <a:r>
              <a:rPr lang="en-US" sz="2000" b="1" dirty="0">
                <a:solidFill>
                  <a:srgbClr val="12324A"/>
                </a:solidFill>
                <a:latin typeface="メイリオ" pitchFamily="34" charset="0"/>
                <a:ea typeface="メイリオ" pitchFamily="34" charset="-122"/>
                <a:cs typeface="メイリオ" pitchFamily="34" charset="-120"/>
              </a:rPr>
              <a:t>楽しみ</a:t>
            </a:r>
            <a:endParaRPr lang="en-US" sz="2000" dirty="0"/>
          </a:p>
        </p:txBody>
      </p:sp>
      <p:sp>
        <p:nvSpPr>
          <p:cNvPr id="8" name="Text 6"/>
          <p:cNvSpPr/>
          <p:nvPr/>
        </p:nvSpPr>
        <p:spPr>
          <a:xfrm>
            <a:off x="530352" y="2423160"/>
            <a:ext cx="1792224" cy="731520"/>
          </a:xfrm>
          <a:prstGeom prst="rect">
            <a:avLst/>
          </a:prstGeom>
          <a:noFill/>
          <a:ln/>
        </p:spPr>
        <p:txBody>
          <a:bodyPr wrap="square" lIns="0" tIns="0" rIns="0" bIns="0" rtlCol="0" anchor="t"/>
          <a:lstStyle/>
          <a:p>
            <a:pPr algn="ctr" indent="0" marL="0">
              <a:buNone/>
            </a:pPr>
            <a:r>
              <a:rPr lang="en-US" sz="1400" dirty="0">
                <a:solidFill>
                  <a:srgbClr val="12324A"/>
                </a:solidFill>
                <a:latin typeface="メイリオ" pitchFamily="34" charset="0"/>
                <a:ea typeface="メイリオ" pitchFamily="34" charset="-122"/>
                <a:cs typeface="メイリオ" pitchFamily="34" charset="-120"/>
              </a:rPr>
              <a:t>関係をつくる</a:t>
            </a:r>
            <a:endParaRPr lang="en-US" sz="1400" dirty="0"/>
          </a:p>
          <a:p>
            <a:pPr algn="ctr" indent="0" marL="0">
              <a:buNone/>
            </a:pPr>
            <a:r>
              <a:rPr lang="en-US" sz="1400" dirty="0">
                <a:solidFill>
                  <a:srgbClr val="12324A"/>
                </a:solidFill>
                <a:latin typeface="メイリオ" pitchFamily="34" charset="0"/>
                <a:ea typeface="メイリオ" pitchFamily="34" charset="-122"/>
                <a:cs typeface="メイリオ" pitchFamily="34" charset="-120"/>
              </a:rPr>
              <a:t>日常の具体像</a:t>
            </a:r>
            <a:endParaRPr lang="en-US" sz="1400" dirty="0"/>
          </a:p>
        </p:txBody>
      </p:sp>
      <p:sp>
        <p:nvSpPr>
          <p:cNvPr id="9" name="Shape 7"/>
          <p:cNvSpPr/>
          <p:nvPr/>
        </p:nvSpPr>
        <p:spPr>
          <a:xfrm>
            <a:off x="2542032" y="1874520"/>
            <a:ext cx="1938528" cy="2743200"/>
          </a:xfrm>
          <a:prstGeom prst="rect">
            <a:avLst/>
          </a:prstGeom>
          <a:solidFill>
            <a:srgbClr val="C4DDEE"/>
          </a:solidFill>
          <a:ln w="15875">
            <a:solidFill>
              <a:srgbClr val="C4DDEE"/>
            </a:solidFill>
            <a:prstDash val="solid"/>
          </a:ln>
        </p:spPr>
      </p:sp>
      <p:sp>
        <p:nvSpPr>
          <p:cNvPr id="10" name="Text 8"/>
          <p:cNvSpPr/>
          <p:nvPr/>
        </p:nvSpPr>
        <p:spPr>
          <a:xfrm>
            <a:off x="2615184" y="1984248"/>
            <a:ext cx="1792224" cy="822960"/>
          </a:xfrm>
          <a:prstGeom prst="rect">
            <a:avLst/>
          </a:prstGeom>
          <a:noFill/>
          <a:ln/>
        </p:spPr>
        <p:txBody>
          <a:bodyPr wrap="square" lIns="0" tIns="0" rIns="0" bIns="0" rtlCol="0" anchor="ctr"/>
          <a:lstStyle/>
          <a:p>
            <a:pPr algn="ctr" indent="0" marL="0">
              <a:buNone/>
            </a:pPr>
            <a:r>
              <a:rPr lang="en-US" sz="2000" b="1" dirty="0">
                <a:solidFill>
                  <a:srgbClr val="12324A"/>
                </a:solidFill>
                <a:latin typeface="メイリオ" pitchFamily="34" charset="0"/>
                <a:ea typeface="メイリオ" pitchFamily="34" charset="-122"/>
                <a:cs typeface="メイリオ" pitchFamily="34" charset="-120"/>
              </a:rPr>
              <a:t>生きがい</a:t>
            </a:r>
            <a:endParaRPr lang="en-US" sz="2000" dirty="0"/>
          </a:p>
        </p:txBody>
      </p:sp>
      <p:sp>
        <p:nvSpPr>
          <p:cNvPr id="11" name="Text 9"/>
          <p:cNvSpPr/>
          <p:nvPr/>
        </p:nvSpPr>
        <p:spPr>
          <a:xfrm>
            <a:off x="2615184" y="2834640"/>
            <a:ext cx="1792224" cy="731520"/>
          </a:xfrm>
          <a:prstGeom prst="rect">
            <a:avLst/>
          </a:prstGeom>
          <a:noFill/>
          <a:ln/>
        </p:spPr>
        <p:txBody>
          <a:bodyPr wrap="square" lIns="0" tIns="0" rIns="0" bIns="0" rtlCol="0" anchor="t"/>
          <a:lstStyle/>
          <a:p>
            <a:pPr algn="ctr" indent="0" marL="0">
              <a:buNone/>
            </a:pPr>
            <a:r>
              <a:rPr lang="en-US" sz="1400" dirty="0">
                <a:solidFill>
                  <a:srgbClr val="12324A"/>
                </a:solidFill>
                <a:latin typeface="メイリオ" pitchFamily="34" charset="0"/>
                <a:ea typeface="メイリオ" pitchFamily="34" charset="-122"/>
                <a:cs typeface="メイリオ" pitchFamily="34" charset="-120"/>
              </a:rPr>
              <a:t>価値観の核</a:t>
            </a:r>
            <a:endParaRPr lang="en-US" sz="1400" dirty="0"/>
          </a:p>
          <a:p>
            <a:pPr algn="ctr" indent="0" marL="0">
              <a:buNone/>
            </a:pPr>
            <a:r>
              <a:rPr lang="en-US" sz="1400" dirty="0">
                <a:solidFill>
                  <a:srgbClr val="12324A"/>
                </a:solidFill>
                <a:latin typeface="メイリオ" pitchFamily="34" charset="0"/>
                <a:ea typeface="メイリオ" pitchFamily="34" charset="-122"/>
                <a:cs typeface="メイリオ" pitchFamily="34" charset="-120"/>
              </a:rPr>
              <a:t>役割・関係・誇り</a:t>
            </a:r>
            <a:endParaRPr lang="en-US" sz="1400" dirty="0"/>
          </a:p>
        </p:txBody>
      </p:sp>
      <p:sp>
        <p:nvSpPr>
          <p:cNvPr id="12" name="Shape 10"/>
          <p:cNvSpPr/>
          <p:nvPr/>
        </p:nvSpPr>
        <p:spPr>
          <a:xfrm>
            <a:off x="4626864" y="2286000"/>
            <a:ext cx="1938528" cy="2331720"/>
          </a:xfrm>
          <a:prstGeom prst="rect">
            <a:avLst/>
          </a:prstGeom>
          <a:solidFill>
            <a:srgbClr val="F6DFC8"/>
          </a:solidFill>
          <a:ln w="15875">
            <a:solidFill>
              <a:srgbClr val="F6DFC8"/>
            </a:solidFill>
            <a:prstDash val="solid"/>
          </a:ln>
        </p:spPr>
      </p:sp>
      <p:sp>
        <p:nvSpPr>
          <p:cNvPr id="13" name="Text 11"/>
          <p:cNvSpPr/>
          <p:nvPr/>
        </p:nvSpPr>
        <p:spPr>
          <a:xfrm>
            <a:off x="4700016" y="2395728"/>
            <a:ext cx="1792224" cy="822960"/>
          </a:xfrm>
          <a:prstGeom prst="rect">
            <a:avLst/>
          </a:prstGeom>
          <a:noFill/>
          <a:ln/>
        </p:spPr>
        <p:txBody>
          <a:bodyPr wrap="square" lIns="0" tIns="0" rIns="0" bIns="0" rtlCol="0" anchor="ctr"/>
          <a:lstStyle/>
          <a:p>
            <a:pPr algn="ctr" indent="0" marL="0">
              <a:buNone/>
            </a:pPr>
            <a:r>
              <a:rPr lang="en-US" sz="2000" b="1" dirty="0">
                <a:solidFill>
                  <a:srgbClr val="12324A"/>
                </a:solidFill>
                <a:latin typeface="メイリオ" pitchFamily="34" charset="0"/>
                <a:ea typeface="メイリオ" pitchFamily="34" charset="-122"/>
                <a:cs typeface="メイリオ" pitchFamily="34" charset="-120"/>
              </a:rPr>
              <a:t>気がかり</a:t>
            </a:r>
            <a:endParaRPr lang="en-US" sz="2000" dirty="0"/>
          </a:p>
        </p:txBody>
      </p:sp>
      <p:sp>
        <p:nvSpPr>
          <p:cNvPr id="14" name="Text 12"/>
          <p:cNvSpPr/>
          <p:nvPr/>
        </p:nvSpPr>
        <p:spPr>
          <a:xfrm>
            <a:off x="4700016" y="3246120"/>
            <a:ext cx="1792224" cy="731520"/>
          </a:xfrm>
          <a:prstGeom prst="rect">
            <a:avLst/>
          </a:prstGeom>
          <a:noFill/>
          <a:ln/>
        </p:spPr>
        <p:txBody>
          <a:bodyPr wrap="square" lIns="0" tIns="0" rIns="0" bIns="0" rtlCol="0" anchor="t"/>
          <a:lstStyle/>
          <a:p>
            <a:pPr algn="ctr" indent="0" marL="0">
              <a:buNone/>
            </a:pPr>
            <a:r>
              <a:rPr lang="en-US" sz="1400" dirty="0">
                <a:solidFill>
                  <a:srgbClr val="12324A"/>
                </a:solidFill>
                <a:latin typeface="メイリオ" pitchFamily="34" charset="0"/>
                <a:ea typeface="メイリオ" pitchFamily="34" charset="-122"/>
                <a:cs typeface="メイリオ" pitchFamily="34" charset="-120"/>
              </a:rPr>
              <a:t>不安・恐れを</a:t>
            </a:r>
            <a:endParaRPr lang="en-US" sz="1400" dirty="0"/>
          </a:p>
          <a:p>
            <a:pPr algn="ctr" indent="0" marL="0">
              <a:buNone/>
            </a:pPr>
            <a:r>
              <a:rPr lang="en-US" sz="1400" dirty="0">
                <a:solidFill>
                  <a:srgbClr val="12324A"/>
                </a:solidFill>
                <a:latin typeface="メイリオ" pitchFamily="34" charset="0"/>
                <a:ea typeface="メイリオ" pitchFamily="34" charset="-122"/>
                <a:cs typeface="メイリオ" pitchFamily="34" charset="-120"/>
              </a:rPr>
              <a:t>言葉にする</a:t>
            </a:r>
            <a:endParaRPr lang="en-US" sz="1400" dirty="0"/>
          </a:p>
        </p:txBody>
      </p:sp>
      <p:sp>
        <p:nvSpPr>
          <p:cNvPr id="15" name="Shape 13"/>
          <p:cNvSpPr/>
          <p:nvPr/>
        </p:nvSpPr>
        <p:spPr>
          <a:xfrm>
            <a:off x="6711696" y="2697480"/>
            <a:ext cx="1938528" cy="1920240"/>
          </a:xfrm>
          <a:prstGeom prst="rect">
            <a:avLst/>
          </a:prstGeom>
          <a:solidFill>
            <a:srgbClr val="EFC0A4"/>
          </a:solidFill>
          <a:ln w="15875">
            <a:solidFill>
              <a:srgbClr val="EFC0A4"/>
            </a:solidFill>
            <a:prstDash val="solid"/>
          </a:ln>
        </p:spPr>
      </p:sp>
      <p:sp>
        <p:nvSpPr>
          <p:cNvPr id="16" name="Text 14"/>
          <p:cNvSpPr/>
          <p:nvPr/>
        </p:nvSpPr>
        <p:spPr>
          <a:xfrm>
            <a:off x="6784848" y="2807208"/>
            <a:ext cx="1792224" cy="822960"/>
          </a:xfrm>
          <a:prstGeom prst="rect">
            <a:avLst/>
          </a:prstGeom>
          <a:noFill/>
          <a:ln/>
        </p:spPr>
        <p:txBody>
          <a:bodyPr wrap="square" lIns="0" tIns="0" rIns="0" bIns="0" rtlCol="0" anchor="ctr"/>
          <a:lstStyle/>
          <a:p>
            <a:pPr algn="ctr" indent="0" marL="0">
              <a:buNone/>
            </a:pPr>
            <a:r>
              <a:rPr lang="en-US" sz="2000" b="1" dirty="0">
                <a:solidFill>
                  <a:srgbClr val="B23A2B"/>
                </a:solidFill>
                <a:latin typeface="メイリオ" pitchFamily="34" charset="0"/>
                <a:ea typeface="メイリオ" pitchFamily="34" charset="-122"/>
                <a:cs typeface="メイリオ" pitchFamily="34" charset="-120"/>
              </a:rPr>
              <a:t>生きている</a:t>
            </a:r>
            <a:endParaRPr lang="en-US" sz="2000" dirty="0"/>
          </a:p>
          <a:p>
            <a:pPr algn="ctr" indent="0" marL="0">
              <a:buNone/>
            </a:pPr>
            <a:r>
              <a:rPr lang="en-US" sz="2000" b="1" dirty="0">
                <a:solidFill>
                  <a:srgbClr val="B23A2B"/>
                </a:solidFill>
                <a:latin typeface="メイリオ" pitchFamily="34" charset="0"/>
                <a:ea typeface="メイリオ" pitchFamily="34" charset="-122"/>
                <a:cs typeface="メイリオ" pitchFamily="34" charset="-120"/>
              </a:rPr>
              <a:t>意味がない</a:t>
            </a:r>
            <a:endParaRPr lang="en-US" sz="2000" dirty="0"/>
          </a:p>
        </p:txBody>
      </p:sp>
      <p:sp>
        <p:nvSpPr>
          <p:cNvPr id="17" name="Text 15"/>
          <p:cNvSpPr/>
          <p:nvPr/>
        </p:nvSpPr>
        <p:spPr>
          <a:xfrm>
            <a:off x="6784848" y="3657600"/>
            <a:ext cx="1792224" cy="731520"/>
          </a:xfrm>
          <a:prstGeom prst="rect">
            <a:avLst/>
          </a:prstGeom>
          <a:noFill/>
          <a:ln/>
        </p:spPr>
        <p:txBody>
          <a:bodyPr wrap="square" lIns="0" tIns="0" rIns="0" bIns="0" rtlCol="0" anchor="t"/>
          <a:lstStyle/>
          <a:p>
            <a:pPr algn="ctr" indent="0" marL="0">
              <a:buNone/>
            </a:pPr>
            <a:r>
              <a:rPr lang="en-US" sz="1400" dirty="0">
                <a:solidFill>
                  <a:srgbClr val="12324A"/>
                </a:solidFill>
                <a:latin typeface="メイリオ" pitchFamily="34" charset="0"/>
                <a:ea typeface="メイリオ" pitchFamily="34" charset="-122"/>
                <a:cs typeface="メイリオ" pitchFamily="34" charset="-120"/>
              </a:rPr>
              <a:t>下限ラインに</a:t>
            </a:r>
            <a:endParaRPr lang="en-US" sz="1400" dirty="0"/>
          </a:p>
          <a:p>
            <a:pPr algn="ctr" indent="0" marL="0">
              <a:buNone/>
            </a:pPr>
            <a:r>
              <a:rPr lang="en-US" sz="1400" dirty="0">
                <a:solidFill>
                  <a:srgbClr val="12324A"/>
                </a:solidFill>
                <a:latin typeface="メイリオ" pitchFamily="34" charset="0"/>
                <a:ea typeface="メイリオ" pitchFamily="34" charset="-122"/>
                <a:cs typeface="メイリオ" pitchFamily="34" charset="-120"/>
              </a:rPr>
              <a:t>到達する</a:t>
            </a:r>
            <a:endParaRPr lang="en-US" sz="1400" dirty="0"/>
          </a:p>
        </p:txBody>
      </p:sp>
      <p:sp>
        <p:nvSpPr>
          <p:cNvPr id="18" name="Text 16"/>
          <p:cNvSpPr/>
          <p:nvPr/>
        </p:nvSpPr>
        <p:spPr>
          <a:xfrm>
            <a:off x="4626864" y="1463040"/>
            <a:ext cx="4059936" cy="731520"/>
          </a:xfrm>
          <a:prstGeom prst="rect">
            <a:avLst/>
          </a:prstGeom>
          <a:noFill/>
          <a:ln/>
        </p:spPr>
        <p:txBody>
          <a:bodyPr wrap="square" lIns="0" tIns="0" rIns="0" bIns="0" rtlCol="0" anchor="ctr"/>
          <a:lstStyle/>
          <a:p>
            <a:pPr indent="0" marL="0">
              <a:buNone/>
            </a:pPr>
            <a:r>
              <a:rPr lang="en-US" sz="1600" dirty="0">
                <a:solidFill>
                  <a:srgbClr val="12324A"/>
                </a:solidFill>
                <a:latin typeface="メイリオ" pitchFamily="34" charset="0"/>
                <a:ea typeface="メイリオ" pitchFamily="34" charset="-122"/>
                <a:cs typeface="メイリオ" pitchFamily="34" charset="-120"/>
              </a:rPr>
              <a:t>✕ いきなり </a:t>
            </a:r>
            <a:pPr indent="0" marL="0">
              <a:buNone/>
            </a:pPr>
            <a:r>
              <a:rPr lang="en-US" sz="1600" b="1" dirty="0">
                <a:solidFill>
                  <a:srgbClr val="12324A"/>
                </a:solidFill>
                <a:latin typeface="メイリオ" pitchFamily="34" charset="0"/>
                <a:ea typeface="メイリオ" pitchFamily="34" charset="-122"/>
                <a:cs typeface="メイリオ" pitchFamily="34" charset="-120"/>
              </a:rPr>
              <a:t>延命治療の希望</a:t>
            </a:r>
            <a:pPr indent="0" marL="0">
              <a:buNone/>
            </a:pPr>
            <a:r>
              <a:rPr lang="en-US" sz="1600" dirty="0">
                <a:solidFill>
                  <a:srgbClr val="12324A"/>
                </a:solidFill>
                <a:latin typeface="メイリオ" pitchFamily="34" charset="0"/>
                <a:ea typeface="メイリオ" pitchFamily="34" charset="-122"/>
                <a:cs typeface="メイリオ" pitchFamily="34" charset="-120"/>
              </a:rPr>
              <a:t> を聞かない</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5</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質問例：導入 → 楽しみ → 生きがい</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言い回しは相手に合わせて調整する</a:t>
            </a:r>
            <a:endParaRPr lang="en-US" sz="1700" dirty="0"/>
          </a:p>
        </p:txBody>
      </p:sp>
      <p:sp>
        <p:nvSpPr>
          <p:cNvPr id="6" name="Shape 4"/>
          <p:cNvSpPr/>
          <p:nvPr/>
        </p:nvSpPr>
        <p:spPr>
          <a:xfrm>
            <a:off x="457200" y="1417320"/>
            <a:ext cx="1371600" cy="960120"/>
          </a:xfrm>
          <a:prstGeom prst="rect">
            <a:avLst/>
          </a:prstGeom>
          <a:solidFill>
            <a:srgbClr val="1E4A6E"/>
          </a:solidFill>
          <a:ln w="15875">
            <a:solidFill>
              <a:srgbClr val="1E4A6E"/>
            </a:solidFill>
            <a:prstDash val="solid"/>
          </a:ln>
        </p:spPr>
      </p:sp>
      <p:sp>
        <p:nvSpPr>
          <p:cNvPr id="7" name="Text 5"/>
          <p:cNvSpPr/>
          <p:nvPr/>
        </p:nvSpPr>
        <p:spPr>
          <a:xfrm>
            <a:off x="457200" y="1417320"/>
            <a:ext cx="1371600" cy="960120"/>
          </a:xfrm>
          <a:prstGeom prst="rect">
            <a:avLst/>
          </a:prstGeom>
          <a:noFill/>
          <a:ln/>
        </p:spPr>
        <p:txBody>
          <a:bodyPr wrap="square" lIns="0" tIns="0" rIns="0" bIns="0" rtlCol="0" anchor="ctr"/>
          <a:lstStyle/>
          <a:p>
            <a:pPr algn="ctr" indent="0" marL="0">
              <a:buNone/>
            </a:pPr>
            <a:r>
              <a:rPr lang="en-US" sz="1900" b="1" dirty="0">
                <a:solidFill>
                  <a:srgbClr val="FFFFFF"/>
                </a:solidFill>
                <a:latin typeface="メイリオ" pitchFamily="34" charset="0"/>
                <a:ea typeface="メイリオ" pitchFamily="34" charset="-122"/>
                <a:cs typeface="メイリオ" pitchFamily="34" charset="-120"/>
              </a:rPr>
              <a:t>導入</a:t>
            </a:r>
            <a:endParaRPr lang="en-US" sz="1900" dirty="0"/>
          </a:p>
        </p:txBody>
      </p:sp>
      <p:sp>
        <p:nvSpPr>
          <p:cNvPr id="8" name="Shape 6"/>
          <p:cNvSpPr/>
          <p:nvPr/>
        </p:nvSpPr>
        <p:spPr>
          <a:xfrm>
            <a:off x="1828800" y="1417320"/>
            <a:ext cx="6858000" cy="960120"/>
          </a:xfrm>
          <a:prstGeom prst="rect">
            <a:avLst/>
          </a:prstGeom>
          <a:solidFill>
            <a:srgbClr val="EAF2F7"/>
          </a:solidFill>
          <a:ln w="15875">
            <a:solidFill>
              <a:srgbClr val="EAF2F7"/>
            </a:solidFill>
            <a:prstDash val="solid"/>
          </a:ln>
        </p:spPr>
      </p:sp>
      <p:sp>
        <p:nvSpPr>
          <p:cNvPr id="9" name="Text 7"/>
          <p:cNvSpPr/>
          <p:nvPr/>
        </p:nvSpPr>
        <p:spPr>
          <a:xfrm>
            <a:off x="2011680" y="1417320"/>
            <a:ext cx="6583680" cy="960120"/>
          </a:xfrm>
          <a:prstGeom prst="rect">
            <a:avLst/>
          </a:prstGeom>
          <a:noFill/>
          <a:ln/>
        </p:spPr>
        <p:txBody>
          <a:bodyPr wrap="square" lIns="0" tIns="0" rIns="0" bIns="0" rtlCol="0" anchor="ctr"/>
          <a:lstStyle/>
          <a:p>
            <a:pPr indent="0" marL="0">
              <a:lnSpc>
                <a:spcPct val="110000"/>
              </a:lnSpc>
              <a:buNone/>
            </a:pPr>
            <a:r>
              <a:rPr lang="en-US" sz="1600" dirty="0">
                <a:solidFill>
                  <a:srgbClr val="12324A"/>
                </a:solidFill>
                <a:latin typeface="メイリオ" pitchFamily="34" charset="0"/>
                <a:ea typeface="メイリオ" pitchFamily="34" charset="-122"/>
                <a:cs typeface="メイリオ" pitchFamily="34" charset="-120"/>
              </a:rPr>
              <a:t>今日は、これからの治療や生活について、〇〇さんが大事にしていることを少し伺ってもいいですか。どなたにも伺っていることです。</a:t>
            </a:r>
            <a:endParaRPr lang="en-US" sz="1600" dirty="0"/>
          </a:p>
        </p:txBody>
      </p:sp>
      <p:sp>
        <p:nvSpPr>
          <p:cNvPr id="10" name="Shape 8"/>
          <p:cNvSpPr/>
          <p:nvPr/>
        </p:nvSpPr>
        <p:spPr>
          <a:xfrm>
            <a:off x="457200" y="2514600"/>
            <a:ext cx="1371600" cy="960120"/>
          </a:xfrm>
          <a:prstGeom prst="rect">
            <a:avLst/>
          </a:prstGeom>
          <a:solidFill>
            <a:srgbClr val="1E4A6E"/>
          </a:solidFill>
          <a:ln w="15875">
            <a:solidFill>
              <a:srgbClr val="1E4A6E"/>
            </a:solidFill>
            <a:prstDash val="solid"/>
          </a:ln>
        </p:spPr>
      </p:sp>
      <p:sp>
        <p:nvSpPr>
          <p:cNvPr id="11" name="Text 9"/>
          <p:cNvSpPr/>
          <p:nvPr/>
        </p:nvSpPr>
        <p:spPr>
          <a:xfrm>
            <a:off x="457200" y="2514600"/>
            <a:ext cx="1371600" cy="960120"/>
          </a:xfrm>
          <a:prstGeom prst="rect">
            <a:avLst/>
          </a:prstGeom>
          <a:noFill/>
          <a:ln/>
        </p:spPr>
        <p:txBody>
          <a:bodyPr wrap="square" lIns="0" tIns="0" rIns="0" bIns="0" rtlCol="0" anchor="ctr"/>
          <a:lstStyle/>
          <a:p>
            <a:pPr algn="ctr" indent="0" marL="0">
              <a:buNone/>
            </a:pPr>
            <a:r>
              <a:rPr lang="en-US" sz="1900" b="1" dirty="0">
                <a:solidFill>
                  <a:srgbClr val="FFFFFF"/>
                </a:solidFill>
                <a:latin typeface="メイリオ" pitchFamily="34" charset="0"/>
                <a:ea typeface="メイリオ" pitchFamily="34" charset="-122"/>
                <a:cs typeface="メイリオ" pitchFamily="34" charset="-120"/>
              </a:rPr>
              <a:t>楽しみ</a:t>
            </a:r>
            <a:endParaRPr lang="en-US" sz="1900" dirty="0"/>
          </a:p>
        </p:txBody>
      </p:sp>
      <p:sp>
        <p:nvSpPr>
          <p:cNvPr id="12" name="Shape 10"/>
          <p:cNvSpPr/>
          <p:nvPr/>
        </p:nvSpPr>
        <p:spPr>
          <a:xfrm>
            <a:off x="1828800" y="2514600"/>
            <a:ext cx="6858000" cy="960120"/>
          </a:xfrm>
          <a:prstGeom prst="rect">
            <a:avLst/>
          </a:prstGeom>
          <a:solidFill>
            <a:srgbClr val="EAF2F7"/>
          </a:solidFill>
          <a:ln w="15875">
            <a:solidFill>
              <a:srgbClr val="EAF2F7"/>
            </a:solidFill>
            <a:prstDash val="solid"/>
          </a:ln>
        </p:spPr>
      </p:sp>
      <p:sp>
        <p:nvSpPr>
          <p:cNvPr id="13" name="Text 11"/>
          <p:cNvSpPr/>
          <p:nvPr/>
        </p:nvSpPr>
        <p:spPr>
          <a:xfrm>
            <a:off x="2011680" y="2514600"/>
            <a:ext cx="6583680" cy="960120"/>
          </a:xfrm>
          <a:prstGeom prst="rect">
            <a:avLst/>
          </a:prstGeom>
          <a:noFill/>
          <a:ln/>
        </p:spPr>
        <p:txBody>
          <a:bodyPr wrap="square" lIns="0" tIns="0" rIns="0" bIns="0" rtlCol="0" anchor="ctr"/>
          <a:lstStyle/>
          <a:p>
            <a:pPr indent="0" marL="0">
              <a:lnSpc>
                <a:spcPct val="110000"/>
              </a:lnSpc>
              <a:buNone/>
            </a:pPr>
            <a:r>
              <a:rPr lang="en-US" sz="1600" dirty="0">
                <a:solidFill>
                  <a:srgbClr val="12324A"/>
                </a:solidFill>
                <a:latin typeface="メイリオ" pitchFamily="34" charset="0"/>
                <a:ea typeface="メイリオ" pitchFamily="34" charset="-122"/>
                <a:cs typeface="メイリオ" pitchFamily="34" charset="-120"/>
              </a:rPr>
              <a:t>最近、楽しみにしていることは何ですか。</a:t>
            </a:r>
            <a:endParaRPr lang="en-US" sz="1600" dirty="0"/>
          </a:p>
          <a:p>
            <a:pPr indent="0" marL="0">
              <a:lnSpc>
                <a:spcPct val="110000"/>
              </a:lnSpc>
              <a:buNone/>
            </a:pPr>
            <a:r>
              <a:rPr lang="en-US" sz="1600" dirty="0">
                <a:solidFill>
                  <a:srgbClr val="12324A"/>
                </a:solidFill>
                <a:latin typeface="メイリオ" pitchFamily="34" charset="0"/>
                <a:ea typeface="メイリオ" pitchFamily="34" charset="-122"/>
                <a:cs typeface="メイリオ" pitchFamily="34" charset="-120"/>
              </a:rPr>
              <a:t>一日の中で、ほっとする時間はどんなときですか。</a:t>
            </a:r>
            <a:endParaRPr lang="en-US" sz="1600" dirty="0"/>
          </a:p>
        </p:txBody>
      </p:sp>
      <p:sp>
        <p:nvSpPr>
          <p:cNvPr id="14" name="Shape 12"/>
          <p:cNvSpPr/>
          <p:nvPr/>
        </p:nvSpPr>
        <p:spPr>
          <a:xfrm>
            <a:off x="457200" y="3611880"/>
            <a:ext cx="1371600" cy="960120"/>
          </a:xfrm>
          <a:prstGeom prst="rect">
            <a:avLst/>
          </a:prstGeom>
          <a:solidFill>
            <a:srgbClr val="1E4A6E"/>
          </a:solidFill>
          <a:ln w="15875">
            <a:solidFill>
              <a:srgbClr val="1E4A6E"/>
            </a:solidFill>
            <a:prstDash val="solid"/>
          </a:ln>
        </p:spPr>
      </p:sp>
      <p:sp>
        <p:nvSpPr>
          <p:cNvPr id="15" name="Text 13"/>
          <p:cNvSpPr/>
          <p:nvPr/>
        </p:nvSpPr>
        <p:spPr>
          <a:xfrm>
            <a:off x="457200" y="3611880"/>
            <a:ext cx="1371600" cy="960120"/>
          </a:xfrm>
          <a:prstGeom prst="rect">
            <a:avLst/>
          </a:prstGeom>
          <a:noFill/>
          <a:ln/>
        </p:spPr>
        <p:txBody>
          <a:bodyPr wrap="square" lIns="0" tIns="0" rIns="0" bIns="0" rtlCol="0" anchor="ctr"/>
          <a:lstStyle/>
          <a:p>
            <a:pPr algn="ctr" indent="0" marL="0">
              <a:buNone/>
            </a:pPr>
            <a:r>
              <a:rPr lang="en-US" sz="1900" b="1" dirty="0">
                <a:solidFill>
                  <a:srgbClr val="FFFFFF"/>
                </a:solidFill>
                <a:latin typeface="メイリオ" pitchFamily="34" charset="0"/>
                <a:ea typeface="メイリオ" pitchFamily="34" charset="-122"/>
                <a:cs typeface="メイリオ" pitchFamily="34" charset="-120"/>
              </a:rPr>
              <a:t>生きがい</a:t>
            </a:r>
            <a:endParaRPr lang="en-US" sz="1900" dirty="0"/>
          </a:p>
        </p:txBody>
      </p:sp>
      <p:sp>
        <p:nvSpPr>
          <p:cNvPr id="16" name="Shape 14"/>
          <p:cNvSpPr/>
          <p:nvPr/>
        </p:nvSpPr>
        <p:spPr>
          <a:xfrm>
            <a:off x="1828800" y="3611880"/>
            <a:ext cx="6858000" cy="960120"/>
          </a:xfrm>
          <a:prstGeom prst="rect">
            <a:avLst/>
          </a:prstGeom>
          <a:solidFill>
            <a:srgbClr val="EAF2F7"/>
          </a:solidFill>
          <a:ln w="15875">
            <a:solidFill>
              <a:srgbClr val="EAF2F7"/>
            </a:solidFill>
            <a:prstDash val="solid"/>
          </a:ln>
        </p:spPr>
      </p:sp>
      <p:sp>
        <p:nvSpPr>
          <p:cNvPr id="17" name="Text 15"/>
          <p:cNvSpPr/>
          <p:nvPr/>
        </p:nvSpPr>
        <p:spPr>
          <a:xfrm>
            <a:off x="2011680" y="3611880"/>
            <a:ext cx="6583680" cy="960120"/>
          </a:xfrm>
          <a:prstGeom prst="rect">
            <a:avLst/>
          </a:prstGeom>
          <a:noFill/>
          <a:ln/>
        </p:spPr>
        <p:txBody>
          <a:bodyPr wrap="square" lIns="0" tIns="0" rIns="0" bIns="0" rtlCol="0" anchor="ctr"/>
          <a:lstStyle/>
          <a:p>
            <a:pPr indent="0" marL="0">
              <a:lnSpc>
                <a:spcPct val="110000"/>
              </a:lnSpc>
              <a:buNone/>
            </a:pPr>
            <a:r>
              <a:rPr lang="en-US" sz="1600" dirty="0">
                <a:solidFill>
                  <a:srgbClr val="12324A"/>
                </a:solidFill>
                <a:latin typeface="メイリオ" pitchFamily="34" charset="0"/>
                <a:ea typeface="メイリオ" pitchFamily="34" charset="-122"/>
                <a:cs typeface="メイリオ" pitchFamily="34" charset="-120"/>
              </a:rPr>
              <a:t>〇〇さんにとって、生きがいや張り合いになっていることは何ですか。</a:t>
            </a:r>
            <a:endParaRPr lang="en-US" sz="1600" dirty="0"/>
          </a:p>
          <a:p>
            <a:pPr indent="0" marL="0">
              <a:lnSpc>
                <a:spcPct val="110000"/>
              </a:lnSpc>
              <a:buNone/>
            </a:pPr>
            <a:r>
              <a:rPr lang="en-US" sz="1600" dirty="0">
                <a:solidFill>
                  <a:srgbClr val="12324A"/>
                </a:solidFill>
                <a:latin typeface="メイリオ" pitchFamily="34" charset="0"/>
                <a:ea typeface="メイリオ" pitchFamily="34" charset="-122"/>
                <a:cs typeface="メイリオ" pitchFamily="34" charset="-120"/>
              </a:rPr>
              <a:t>これだけは続けたい、ということはありますか。</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6</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質問例：気がかり → 生きている意味がない</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感情が動いたら、先に気持ちに応える</a:t>
            </a:r>
            <a:endParaRPr lang="en-US" sz="1700" dirty="0"/>
          </a:p>
        </p:txBody>
      </p:sp>
      <p:sp>
        <p:nvSpPr>
          <p:cNvPr id="6" name="Shape 4"/>
          <p:cNvSpPr/>
          <p:nvPr/>
        </p:nvSpPr>
        <p:spPr>
          <a:xfrm>
            <a:off x="457200" y="1417320"/>
            <a:ext cx="1371600" cy="960120"/>
          </a:xfrm>
          <a:prstGeom prst="rect">
            <a:avLst/>
          </a:prstGeom>
          <a:solidFill>
            <a:srgbClr val="1E4A6E"/>
          </a:solidFill>
          <a:ln w="15875">
            <a:solidFill>
              <a:srgbClr val="1E4A6E"/>
            </a:solidFill>
            <a:prstDash val="solid"/>
          </a:ln>
        </p:spPr>
      </p:sp>
      <p:sp>
        <p:nvSpPr>
          <p:cNvPr id="7" name="Text 5"/>
          <p:cNvSpPr/>
          <p:nvPr/>
        </p:nvSpPr>
        <p:spPr>
          <a:xfrm>
            <a:off x="457200" y="1417320"/>
            <a:ext cx="1371600" cy="960120"/>
          </a:xfrm>
          <a:prstGeom prst="rect">
            <a:avLst/>
          </a:prstGeom>
          <a:noFill/>
          <a:ln/>
        </p:spPr>
        <p:txBody>
          <a:bodyPr wrap="square" lIns="0" tIns="0" rIns="0" bIns="0" rtlCol="0" anchor="ctr"/>
          <a:lstStyle/>
          <a:p>
            <a:pPr algn="ctr" indent="0" marL="0">
              <a:buNone/>
            </a:pPr>
            <a:r>
              <a:rPr lang="en-US" sz="1900" b="1" dirty="0">
                <a:solidFill>
                  <a:srgbClr val="FFFFFF"/>
                </a:solidFill>
                <a:latin typeface="メイリオ" pitchFamily="34" charset="0"/>
                <a:ea typeface="メイリオ" pitchFamily="34" charset="-122"/>
                <a:cs typeface="メイリオ" pitchFamily="34" charset="-120"/>
              </a:rPr>
              <a:t>気がかり</a:t>
            </a:r>
            <a:endParaRPr lang="en-US" sz="1900" dirty="0"/>
          </a:p>
        </p:txBody>
      </p:sp>
      <p:sp>
        <p:nvSpPr>
          <p:cNvPr id="8" name="Shape 6"/>
          <p:cNvSpPr/>
          <p:nvPr/>
        </p:nvSpPr>
        <p:spPr>
          <a:xfrm>
            <a:off x="1828800" y="1417320"/>
            <a:ext cx="6858000" cy="960120"/>
          </a:xfrm>
          <a:prstGeom prst="rect">
            <a:avLst/>
          </a:prstGeom>
          <a:solidFill>
            <a:srgbClr val="EAF2F7"/>
          </a:solidFill>
          <a:ln w="15875">
            <a:solidFill>
              <a:srgbClr val="EAF2F7"/>
            </a:solidFill>
            <a:prstDash val="solid"/>
          </a:ln>
        </p:spPr>
      </p:sp>
      <p:sp>
        <p:nvSpPr>
          <p:cNvPr id="9" name="Text 7"/>
          <p:cNvSpPr/>
          <p:nvPr/>
        </p:nvSpPr>
        <p:spPr>
          <a:xfrm>
            <a:off x="2011680" y="1417320"/>
            <a:ext cx="6583680" cy="960120"/>
          </a:xfrm>
          <a:prstGeom prst="rect">
            <a:avLst/>
          </a:prstGeom>
          <a:noFill/>
          <a:ln/>
        </p:spPr>
        <p:txBody>
          <a:bodyPr wrap="square" lIns="0" tIns="0" rIns="0" bIns="0" rtlCol="0" anchor="ctr"/>
          <a:lstStyle/>
          <a:p>
            <a:pPr indent="0" marL="0">
              <a:lnSpc>
                <a:spcPct val="110000"/>
              </a:lnSpc>
              <a:buNone/>
            </a:pPr>
            <a:r>
              <a:rPr lang="en-US" sz="1600" dirty="0">
                <a:solidFill>
                  <a:srgbClr val="12324A"/>
                </a:solidFill>
                <a:latin typeface="メイリオ" pitchFamily="34" charset="0"/>
                <a:ea typeface="メイリオ" pitchFamily="34" charset="-122"/>
                <a:cs typeface="メイリオ" pitchFamily="34" charset="-120"/>
              </a:rPr>
              <a:t>これから先のことで、気がかりなことはありますか。</a:t>
            </a:r>
            <a:endParaRPr lang="en-US" sz="1600" dirty="0"/>
          </a:p>
          <a:p>
            <a:pPr indent="0" marL="0">
              <a:lnSpc>
                <a:spcPct val="110000"/>
              </a:lnSpc>
              <a:buNone/>
            </a:pPr>
            <a:r>
              <a:rPr lang="en-US" sz="1600" dirty="0">
                <a:solidFill>
                  <a:srgbClr val="12324A"/>
                </a:solidFill>
                <a:latin typeface="メイリオ" pitchFamily="34" charset="0"/>
                <a:ea typeface="メイリオ" pitchFamily="34" charset="-122"/>
                <a:cs typeface="メイリオ" pitchFamily="34" charset="-120"/>
              </a:rPr>
              <a:t>病気のことで、一番こわいと思っていることは何ですか。</a:t>
            </a:r>
            <a:endParaRPr lang="en-US" sz="1600" dirty="0"/>
          </a:p>
        </p:txBody>
      </p:sp>
      <p:sp>
        <p:nvSpPr>
          <p:cNvPr id="10" name="Shape 8"/>
          <p:cNvSpPr/>
          <p:nvPr/>
        </p:nvSpPr>
        <p:spPr>
          <a:xfrm>
            <a:off x="457200" y="2514600"/>
            <a:ext cx="1371600" cy="1463040"/>
          </a:xfrm>
          <a:prstGeom prst="rect">
            <a:avLst/>
          </a:prstGeom>
          <a:solidFill>
            <a:srgbClr val="B23A2B"/>
          </a:solidFill>
          <a:ln w="15875">
            <a:solidFill>
              <a:srgbClr val="B23A2B"/>
            </a:solidFill>
            <a:prstDash val="solid"/>
          </a:ln>
        </p:spPr>
      </p:sp>
      <p:sp>
        <p:nvSpPr>
          <p:cNvPr id="11" name="Text 9"/>
          <p:cNvSpPr/>
          <p:nvPr/>
        </p:nvSpPr>
        <p:spPr>
          <a:xfrm>
            <a:off x="457200" y="2514600"/>
            <a:ext cx="1371600" cy="1463040"/>
          </a:xfrm>
          <a:prstGeom prst="rect">
            <a:avLst/>
          </a:prstGeom>
          <a:noFill/>
          <a:ln/>
        </p:spPr>
        <p:txBody>
          <a:bodyPr wrap="square" lIns="0" tIns="0" rIns="0" bIns="0" rtlCol="0" anchor="ctr"/>
          <a:lstStyle/>
          <a:p>
            <a:pPr algn="ctr" indent="0" marL="0">
              <a:buNone/>
            </a:pPr>
            <a:r>
              <a:rPr lang="en-US" sz="1800" b="1" dirty="0">
                <a:solidFill>
                  <a:srgbClr val="FFFFFF"/>
                </a:solidFill>
                <a:latin typeface="メイリオ" pitchFamily="34" charset="0"/>
                <a:ea typeface="メイリオ" pitchFamily="34" charset="-122"/>
                <a:cs typeface="メイリオ" pitchFamily="34" charset="-120"/>
              </a:rPr>
              <a:t>生きている</a:t>
            </a:r>
            <a:endParaRPr lang="en-US" sz="1800" dirty="0"/>
          </a:p>
          <a:p>
            <a:pPr algn="ctr" indent="0" marL="0">
              <a:buNone/>
            </a:pPr>
            <a:r>
              <a:rPr lang="en-US" sz="1800" b="1" dirty="0">
                <a:solidFill>
                  <a:srgbClr val="FFFFFF"/>
                </a:solidFill>
                <a:latin typeface="メイリオ" pitchFamily="34" charset="0"/>
                <a:ea typeface="メイリオ" pitchFamily="34" charset="-122"/>
                <a:cs typeface="メイリオ" pitchFamily="34" charset="-120"/>
              </a:rPr>
              <a:t>意味が</a:t>
            </a:r>
            <a:endParaRPr lang="en-US" sz="1800" dirty="0"/>
          </a:p>
          <a:p>
            <a:pPr algn="ctr" indent="0" marL="0">
              <a:buNone/>
            </a:pPr>
            <a:r>
              <a:rPr lang="en-US" sz="1800" b="1" dirty="0">
                <a:solidFill>
                  <a:srgbClr val="FFFFFF"/>
                </a:solidFill>
                <a:latin typeface="メイリオ" pitchFamily="34" charset="0"/>
                <a:ea typeface="メイリオ" pitchFamily="34" charset="-122"/>
                <a:cs typeface="メイリオ" pitchFamily="34" charset="-120"/>
              </a:rPr>
              <a:t>ない</a:t>
            </a:r>
            <a:endParaRPr lang="en-US" sz="1800" dirty="0"/>
          </a:p>
        </p:txBody>
      </p:sp>
      <p:sp>
        <p:nvSpPr>
          <p:cNvPr id="12" name="Shape 10"/>
          <p:cNvSpPr/>
          <p:nvPr/>
        </p:nvSpPr>
        <p:spPr>
          <a:xfrm>
            <a:off x="1828800" y="2514600"/>
            <a:ext cx="6858000" cy="1463040"/>
          </a:xfrm>
          <a:prstGeom prst="rect">
            <a:avLst/>
          </a:prstGeom>
          <a:solidFill>
            <a:srgbClr val="FBF0E4"/>
          </a:solidFill>
          <a:ln w="15875">
            <a:solidFill>
              <a:srgbClr val="FBF0E4"/>
            </a:solidFill>
            <a:prstDash val="solid"/>
          </a:ln>
        </p:spPr>
      </p:sp>
      <p:sp>
        <p:nvSpPr>
          <p:cNvPr id="13" name="Text 11"/>
          <p:cNvSpPr/>
          <p:nvPr/>
        </p:nvSpPr>
        <p:spPr>
          <a:xfrm>
            <a:off x="2011680" y="2514600"/>
            <a:ext cx="6583680" cy="1463040"/>
          </a:xfrm>
          <a:prstGeom prst="rect">
            <a:avLst/>
          </a:prstGeom>
          <a:noFill/>
          <a:ln/>
        </p:spPr>
        <p:txBody>
          <a:bodyPr wrap="square" lIns="0" tIns="0" rIns="0" bIns="0" rtlCol="0" anchor="ctr"/>
          <a:lstStyle/>
          <a:p>
            <a:pPr indent="0" marL="0">
              <a:lnSpc>
                <a:spcPct val="110000"/>
              </a:lnSpc>
              <a:buNone/>
            </a:pPr>
            <a:r>
              <a:rPr lang="en-US" sz="1600" b="1" dirty="0">
                <a:solidFill>
                  <a:srgbClr val="12324A"/>
                </a:solidFill>
                <a:latin typeface="メイリオ" pitchFamily="34" charset="0"/>
                <a:ea typeface="メイリオ" pitchFamily="34" charset="-122"/>
                <a:cs typeface="メイリオ" pitchFamily="34" charset="-120"/>
              </a:rPr>
              <a:t>どんな状態になったら、〇〇さんにとって「これでは生きている意味がない」と感じると思いますか。
</a:t>
            </a:r>
            <a:pPr indent="0" marL="0">
              <a:lnSpc>
                <a:spcPct val="110000"/>
              </a:lnSpc>
              <a:buNone/>
            </a:pPr>
            <a:r>
              <a:rPr lang="en-US" sz="1600" dirty="0">
                <a:solidFill>
                  <a:srgbClr val="12324A"/>
                </a:solidFill>
                <a:latin typeface="メイリオ" pitchFamily="34" charset="0"/>
                <a:ea typeface="メイリオ" pitchFamily="34" charset="-122"/>
                <a:cs typeface="メイリオ" pitchFamily="34" charset="-120"/>
              </a:rPr>
              <a:t>逆に、どんな状態までなら「それでも生きていたい」と思えますか。</a:t>
            </a:r>
            <a:endParaRPr lang="en-US" sz="1800" dirty="0"/>
          </a:p>
        </p:txBody>
      </p:sp>
      <p:sp>
        <p:nvSpPr>
          <p:cNvPr id="14" name="Text 12"/>
          <p:cNvSpPr/>
          <p:nvPr/>
        </p:nvSpPr>
        <p:spPr>
          <a:xfrm>
            <a:off x="457200" y="4114800"/>
            <a:ext cx="8229600" cy="457200"/>
          </a:xfrm>
          <a:prstGeom prst="rect">
            <a:avLst/>
          </a:prstGeom>
          <a:noFill/>
          <a:ln/>
        </p:spPr>
        <p:txBody>
          <a:bodyPr wrap="square" lIns="0" tIns="0" rIns="0" bIns="0" rtlCol="0" anchor="ctr"/>
          <a:lstStyle/>
          <a:p>
            <a:pPr indent="0" marL="0">
              <a:buNone/>
            </a:pPr>
            <a:r>
              <a:rPr lang="en-US" sz="1400" b="1" dirty="0">
                <a:solidFill>
                  <a:srgbClr val="12324A"/>
                </a:solidFill>
                <a:latin typeface="メイリオ" pitchFamily="34" charset="0"/>
                <a:ea typeface="メイリオ" pitchFamily="34" charset="-122"/>
                <a:cs typeface="メイリオ" pitchFamily="34" charset="-120"/>
              </a:rPr>
              <a:t>直接的すぎる相手には：</a:t>
            </a:r>
            <a:pPr indent="0" marL="0">
              <a:buNone/>
            </a:pPr>
            <a:r>
              <a:rPr lang="en-US" sz="1400" dirty="0">
                <a:solidFill>
                  <a:srgbClr val="12324A"/>
                </a:solidFill>
                <a:latin typeface="メイリオ" pitchFamily="34" charset="0"/>
                <a:ea typeface="メイリオ" pitchFamily="34" charset="-122"/>
                <a:cs typeface="メイリオ" pitchFamily="34" charset="-120"/>
              </a:rPr>
              <a:t>「治療を続けるのはつらすぎる、と思う状態はありますか」</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7</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楽しみ・生きがいは「下限」を測る物差し</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本人自身の価値観を使って、境界を探る</a:t>
            </a:r>
            <a:endParaRPr lang="en-US" sz="1700" dirty="0"/>
          </a:p>
        </p:txBody>
      </p:sp>
      <p:sp>
        <p:nvSpPr>
          <p:cNvPr id="6" name="Shape 4"/>
          <p:cNvSpPr/>
          <p:nvPr/>
        </p:nvSpPr>
        <p:spPr>
          <a:xfrm>
            <a:off x="457200" y="1463040"/>
            <a:ext cx="2651760" cy="1188720"/>
          </a:xfrm>
          <a:prstGeom prst="rect">
            <a:avLst/>
          </a:prstGeom>
          <a:solidFill>
            <a:srgbClr val="EAF2F7"/>
          </a:solidFill>
          <a:ln w="15875">
            <a:solidFill>
              <a:srgbClr val="EAF2F7"/>
            </a:solidFill>
            <a:prstDash val="solid"/>
          </a:ln>
        </p:spPr>
      </p:sp>
      <p:sp>
        <p:nvSpPr>
          <p:cNvPr id="7" name="Text 5"/>
          <p:cNvSpPr/>
          <p:nvPr/>
        </p:nvSpPr>
        <p:spPr>
          <a:xfrm>
            <a:off x="457200" y="1463040"/>
            <a:ext cx="2651760" cy="1188720"/>
          </a:xfrm>
          <a:prstGeom prst="rect">
            <a:avLst/>
          </a:prstGeom>
          <a:noFill/>
          <a:ln/>
        </p:spPr>
        <p:txBody>
          <a:bodyPr wrap="square" lIns="0" tIns="0" rIns="0" bIns="0" rtlCol="0" anchor="ctr"/>
          <a:lstStyle/>
          <a:p>
            <a:pPr algn="ctr" indent="0" marL="0">
              <a:buNone/>
            </a:pPr>
            <a:r>
              <a:rPr lang="en-US" sz="1500" dirty="0">
                <a:solidFill>
                  <a:srgbClr val="12324A"/>
                </a:solidFill>
                <a:latin typeface="メイリオ" pitchFamily="34" charset="0"/>
                <a:ea typeface="メイリオ" pitchFamily="34" charset="-122"/>
                <a:cs typeface="メイリオ" pitchFamily="34" charset="-120"/>
              </a:rPr>
              <a:t>生きがい
</a:t>
            </a:r>
            <a:pPr algn="ctr" indent="0" marL="0">
              <a:buNone/>
            </a:pPr>
            <a:r>
              <a:rPr lang="en-US" sz="2200" b="1" dirty="0">
                <a:solidFill>
                  <a:srgbClr val="12324A"/>
                </a:solidFill>
                <a:latin typeface="メイリオ" pitchFamily="34" charset="0"/>
                <a:ea typeface="メイリオ" pitchFamily="34" charset="-122"/>
                <a:cs typeface="メイリオ" pitchFamily="34" charset="-120"/>
              </a:rPr>
              <a:t>孫と話すこと</a:t>
            </a:r>
            <a:endParaRPr lang="en-US" sz="1800" dirty="0"/>
          </a:p>
        </p:txBody>
      </p:sp>
      <p:sp>
        <p:nvSpPr>
          <p:cNvPr id="8" name="Shape 6"/>
          <p:cNvSpPr/>
          <p:nvPr/>
        </p:nvSpPr>
        <p:spPr>
          <a:xfrm>
            <a:off x="3246120" y="1874520"/>
            <a:ext cx="411480" cy="365760"/>
          </a:xfrm>
          <a:prstGeom prst="rightArrow">
            <a:avLst/>
          </a:prstGeom>
          <a:solidFill>
            <a:srgbClr val="C9661A"/>
          </a:solidFill>
          <a:ln w="12700">
            <a:solidFill>
              <a:srgbClr val="C9661A"/>
            </a:solidFill>
            <a:prstDash val="solid"/>
          </a:ln>
        </p:spPr>
      </p:sp>
      <p:sp>
        <p:nvSpPr>
          <p:cNvPr id="9" name="Shape 7"/>
          <p:cNvSpPr/>
          <p:nvPr/>
        </p:nvSpPr>
        <p:spPr>
          <a:xfrm>
            <a:off x="3794760" y="1463040"/>
            <a:ext cx="4892040" cy="475488"/>
          </a:xfrm>
          <a:prstGeom prst="rect">
            <a:avLst/>
          </a:prstGeom>
          <a:solidFill>
            <a:srgbClr val="F4F6F8"/>
          </a:solidFill>
          <a:ln w="15875">
            <a:solidFill>
              <a:srgbClr val="9FB3C2"/>
            </a:solidFill>
            <a:prstDash val="solid"/>
          </a:ln>
        </p:spPr>
      </p:sp>
      <p:sp>
        <p:nvSpPr>
          <p:cNvPr id="10" name="Text 8"/>
          <p:cNvSpPr/>
          <p:nvPr/>
        </p:nvSpPr>
        <p:spPr>
          <a:xfrm>
            <a:off x="3977640" y="1463040"/>
            <a:ext cx="4572000" cy="47548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話ができなくなったら？</a:t>
            </a:r>
            <a:endParaRPr lang="en-US" sz="1700" dirty="0"/>
          </a:p>
        </p:txBody>
      </p:sp>
      <p:sp>
        <p:nvSpPr>
          <p:cNvPr id="11" name="Shape 9"/>
          <p:cNvSpPr/>
          <p:nvPr/>
        </p:nvSpPr>
        <p:spPr>
          <a:xfrm>
            <a:off x="3794760" y="2029968"/>
            <a:ext cx="4892040" cy="475488"/>
          </a:xfrm>
          <a:prstGeom prst="rect">
            <a:avLst/>
          </a:prstGeom>
          <a:solidFill>
            <a:srgbClr val="F4F6F8"/>
          </a:solidFill>
          <a:ln w="15875">
            <a:solidFill>
              <a:srgbClr val="9FB3C2"/>
            </a:solidFill>
            <a:prstDash val="solid"/>
          </a:ln>
        </p:spPr>
      </p:sp>
      <p:sp>
        <p:nvSpPr>
          <p:cNvPr id="12" name="Text 10"/>
          <p:cNvSpPr/>
          <p:nvPr/>
        </p:nvSpPr>
        <p:spPr>
          <a:xfrm>
            <a:off x="3977640" y="2029968"/>
            <a:ext cx="4572000" cy="47548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話はできるが、寝たきりなら？</a:t>
            </a:r>
            <a:endParaRPr lang="en-US" sz="1700" dirty="0"/>
          </a:p>
        </p:txBody>
      </p:sp>
      <p:sp>
        <p:nvSpPr>
          <p:cNvPr id="13" name="Shape 11"/>
          <p:cNvSpPr/>
          <p:nvPr/>
        </p:nvSpPr>
        <p:spPr>
          <a:xfrm>
            <a:off x="3794760" y="2596896"/>
            <a:ext cx="4892040" cy="475488"/>
          </a:xfrm>
          <a:prstGeom prst="rect">
            <a:avLst/>
          </a:prstGeom>
          <a:solidFill>
            <a:srgbClr val="F4F6F8"/>
          </a:solidFill>
          <a:ln w="15875">
            <a:solidFill>
              <a:srgbClr val="9FB3C2"/>
            </a:solidFill>
            <a:prstDash val="solid"/>
          </a:ln>
        </p:spPr>
      </p:sp>
      <p:sp>
        <p:nvSpPr>
          <p:cNvPr id="14" name="Text 12"/>
          <p:cNvSpPr/>
          <p:nvPr/>
        </p:nvSpPr>
        <p:spPr>
          <a:xfrm>
            <a:off x="3977640" y="2596896"/>
            <a:ext cx="4572000" cy="47548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電話なら話せる、ならどうですか？</a:t>
            </a:r>
            <a:endParaRPr lang="en-US" sz="1700" dirty="0"/>
          </a:p>
        </p:txBody>
      </p:sp>
      <p:sp>
        <p:nvSpPr>
          <p:cNvPr id="15" name="Shape 13"/>
          <p:cNvSpPr/>
          <p:nvPr/>
        </p:nvSpPr>
        <p:spPr>
          <a:xfrm>
            <a:off x="457200" y="3337560"/>
            <a:ext cx="8229600" cy="1097280"/>
          </a:xfrm>
          <a:prstGeom prst="rect">
            <a:avLst/>
          </a:prstGeom>
          <a:solidFill>
            <a:srgbClr val="FBF0E4"/>
          </a:solidFill>
          <a:ln w="15875">
            <a:solidFill>
              <a:srgbClr val="C9661A"/>
            </a:solidFill>
            <a:prstDash val="solid"/>
          </a:ln>
        </p:spPr>
      </p:sp>
      <p:sp>
        <p:nvSpPr>
          <p:cNvPr id="16" name="Text 14"/>
          <p:cNvSpPr/>
          <p:nvPr/>
        </p:nvSpPr>
        <p:spPr>
          <a:xfrm>
            <a:off x="731520" y="3337560"/>
            <a:ext cx="7680960" cy="1097280"/>
          </a:xfrm>
          <a:prstGeom prst="rect">
            <a:avLst/>
          </a:prstGeom>
          <a:noFill/>
          <a:ln/>
        </p:spPr>
        <p:txBody>
          <a:bodyPr wrap="square" lIns="0" tIns="0" rIns="0" bIns="0" rtlCol="0" anchor="ctr"/>
          <a:lstStyle/>
          <a:p>
            <a:pPr indent="0" marL="0">
              <a:lnSpc>
                <a:spcPct val="115000"/>
              </a:lnSpc>
              <a:buNone/>
            </a:pPr>
            <a:r>
              <a:rPr lang="en-US" sz="1800" dirty="0">
                <a:solidFill>
                  <a:srgbClr val="12324A"/>
                </a:solidFill>
                <a:latin typeface="メイリオ" pitchFamily="34" charset="0"/>
                <a:ea typeface="メイリオ" pitchFamily="34" charset="-122"/>
                <a:cs typeface="メイリオ" pitchFamily="34" charset="-120"/>
              </a:rPr>
              <a:t>段階1・2の答えを使い、段階4で </a:t>
            </a:r>
            <a:pPr indent="0" marL="0">
              <a:lnSpc>
                <a:spcPct val="115000"/>
              </a:lnSpc>
              <a:buNone/>
            </a:pPr>
            <a:r>
              <a:rPr lang="en-US" sz="1800" b="1" dirty="0">
                <a:solidFill>
                  <a:srgbClr val="C9661A"/>
                </a:solidFill>
                <a:latin typeface="メイリオ" pitchFamily="34" charset="0"/>
                <a:ea typeface="メイリオ" pitchFamily="34" charset="-122"/>
                <a:cs typeface="メイリオ" pitchFamily="34" charset="-120"/>
              </a:rPr>
              <a:t>「それができなくなったら？」</a:t>
            </a:r>
            <a:pPr indent="0" marL="0">
              <a:lnSpc>
                <a:spcPct val="115000"/>
              </a:lnSpc>
              <a:buNone/>
            </a:pPr>
            <a:r>
              <a:rPr lang="en-US" sz="1800" dirty="0">
                <a:solidFill>
                  <a:srgbClr val="12324A"/>
                </a:solidFill>
                <a:latin typeface="メイリオ" pitchFamily="34" charset="0"/>
                <a:ea typeface="メイリオ" pitchFamily="34" charset="-122"/>
                <a:cs typeface="メイリオ" pitchFamily="34" charset="-120"/>
              </a:rPr>
              <a:t> と返す</a:t>
            </a:r>
            <a:endParaRPr lang="en-US" sz="1800" dirty="0"/>
          </a:p>
          <a:p>
            <a:pPr indent="0" marL="0">
              <a:lnSpc>
                <a:spcPct val="115000"/>
              </a:lnSpc>
              <a:buNone/>
            </a:pPr>
            <a:r>
              <a:rPr lang="en-US" sz="1800" dirty="0">
                <a:solidFill>
                  <a:srgbClr val="12324A"/>
                </a:solidFill>
                <a:latin typeface="メイリオ" pitchFamily="34" charset="0"/>
                <a:ea typeface="メイリオ" pitchFamily="34" charset="-122"/>
                <a:cs typeface="メイリオ" pitchFamily="34" charset="-120"/>
              </a:rPr>
              <a:t>抽象的な「延命」ではなく、本人の生活の言葉で境界が見える</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8</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② フォローアップ：3つの問いを行き来する</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表面的な回答で止めず、本人固有の理由まで</a:t>
            </a:r>
            <a:endParaRPr lang="en-US" sz="1700" dirty="0"/>
          </a:p>
        </p:txBody>
      </p:sp>
      <p:sp>
        <p:nvSpPr>
          <p:cNvPr id="6" name="Shape 4"/>
          <p:cNvSpPr/>
          <p:nvPr/>
        </p:nvSpPr>
        <p:spPr>
          <a:xfrm>
            <a:off x="457200" y="1417320"/>
            <a:ext cx="2615184" cy="640080"/>
          </a:xfrm>
          <a:prstGeom prst="rect">
            <a:avLst/>
          </a:prstGeom>
          <a:solidFill>
            <a:srgbClr val="1E4A6E"/>
          </a:solidFill>
          <a:ln w="15875">
            <a:solidFill>
              <a:srgbClr val="1E4A6E"/>
            </a:solidFill>
            <a:prstDash val="solid"/>
          </a:ln>
        </p:spPr>
      </p:sp>
      <p:sp>
        <p:nvSpPr>
          <p:cNvPr id="7" name="Text 5"/>
          <p:cNvSpPr/>
          <p:nvPr/>
        </p:nvSpPr>
        <p:spPr>
          <a:xfrm>
            <a:off x="457200" y="1417320"/>
            <a:ext cx="2615184"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メイリオ" pitchFamily="34" charset="0"/>
                <a:ea typeface="メイリオ" pitchFamily="34" charset="-122"/>
                <a:cs typeface="メイリオ" pitchFamily="34" charset="-120"/>
              </a:rPr>
              <a:t>Tell me more</a:t>
            </a:r>
            <a:endParaRPr lang="en-US" sz="2200" dirty="0"/>
          </a:p>
        </p:txBody>
      </p:sp>
      <p:sp>
        <p:nvSpPr>
          <p:cNvPr id="8" name="Shape 6"/>
          <p:cNvSpPr/>
          <p:nvPr/>
        </p:nvSpPr>
        <p:spPr>
          <a:xfrm>
            <a:off x="457200" y="2057400"/>
            <a:ext cx="2615184" cy="1143000"/>
          </a:xfrm>
          <a:prstGeom prst="rect">
            <a:avLst/>
          </a:prstGeom>
          <a:solidFill>
            <a:srgbClr val="EAF2F7"/>
          </a:solidFill>
          <a:ln w="15875">
            <a:solidFill>
              <a:srgbClr val="EAF2F7"/>
            </a:solidFill>
            <a:prstDash val="solid"/>
          </a:ln>
        </p:spPr>
      </p:sp>
      <p:sp>
        <p:nvSpPr>
          <p:cNvPr id="9" name="Text 7"/>
          <p:cNvSpPr/>
          <p:nvPr/>
        </p:nvSpPr>
        <p:spPr>
          <a:xfrm>
            <a:off x="548640" y="2057400"/>
            <a:ext cx="2432304" cy="1143000"/>
          </a:xfrm>
          <a:prstGeom prst="rect">
            <a:avLst/>
          </a:prstGeom>
          <a:noFill/>
          <a:ln/>
        </p:spPr>
        <p:txBody>
          <a:bodyPr wrap="square" lIns="0" tIns="0" rIns="0" bIns="0" rtlCol="0" anchor="ctr"/>
          <a:lstStyle/>
          <a:p>
            <a:pPr algn="ctr" indent="0" marL="0">
              <a:buNone/>
            </a:pPr>
            <a:r>
              <a:rPr lang="en-US" sz="1700" b="1" dirty="0">
                <a:solidFill>
                  <a:srgbClr val="12324A"/>
                </a:solidFill>
                <a:latin typeface="メイリオ" pitchFamily="34" charset="0"/>
                <a:ea typeface="メイリオ" pitchFamily="34" charset="-122"/>
                <a:cs typeface="メイリオ" pitchFamily="34" charset="-120"/>
              </a:rPr>
              <a:t>もう少し詳しく</a:t>
            </a:r>
            <a:endParaRPr lang="en-US" sz="1700" dirty="0"/>
          </a:p>
          <a:p>
            <a:pPr algn="ctr" indent="0" marL="0">
              <a:buNone/>
            </a:pPr>
            <a:r>
              <a:rPr lang="en-US" sz="1700" b="1" dirty="0">
                <a:solidFill>
                  <a:srgbClr val="12324A"/>
                </a:solidFill>
                <a:latin typeface="メイリオ" pitchFamily="34" charset="0"/>
                <a:ea typeface="メイリオ" pitchFamily="34" charset="-122"/>
                <a:cs typeface="メイリオ" pitchFamily="34" charset="-120"/>
              </a:rPr>
              <a:t>教えていただけますか</a:t>
            </a:r>
            <a:endParaRPr lang="en-US" sz="1700" dirty="0"/>
          </a:p>
        </p:txBody>
      </p:sp>
      <p:sp>
        <p:nvSpPr>
          <p:cNvPr id="10" name="Text 8"/>
          <p:cNvSpPr/>
          <p:nvPr/>
        </p:nvSpPr>
        <p:spPr>
          <a:xfrm>
            <a:off x="457200" y="3291840"/>
            <a:ext cx="2615184" cy="411480"/>
          </a:xfrm>
          <a:prstGeom prst="rect">
            <a:avLst/>
          </a:prstGeom>
          <a:noFill/>
          <a:ln/>
        </p:spPr>
        <p:txBody>
          <a:bodyPr wrap="square" lIns="0" tIns="0" rIns="0" bIns="0" rtlCol="0" anchor="ctr"/>
          <a:lstStyle/>
          <a:p>
            <a:pPr algn="ctr" indent="0" marL="0">
              <a:buNone/>
            </a:pPr>
            <a:r>
              <a:rPr lang="en-US" sz="1500" dirty="0">
                <a:solidFill>
                  <a:srgbClr val="12324A"/>
                </a:solidFill>
                <a:latin typeface="メイリオ" pitchFamily="34" charset="0"/>
                <a:ea typeface="メイリオ" pitchFamily="34" charset="-122"/>
                <a:cs typeface="メイリオ" pitchFamily="34" charset="-120"/>
              </a:rPr>
              <a:t>具体的な場面・中身を広げる</a:t>
            </a:r>
            <a:endParaRPr lang="en-US" sz="1500" dirty="0"/>
          </a:p>
        </p:txBody>
      </p:sp>
      <p:sp>
        <p:nvSpPr>
          <p:cNvPr id="11" name="Shape 9"/>
          <p:cNvSpPr/>
          <p:nvPr/>
        </p:nvSpPr>
        <p:spPr>
          <a:xfrm>
            <a:off x="3264408" y="1417320"/>
            <a:ext cx="2615184" cy="640080"/>
          </a:xfrm>
          <a:prstGeom prst="rect">
            <a:avLst/>
          </a:prstGeom>
          <a:solidFill>
            <a:srgbClr val="1E4A6E"/>
          </a:solidFill>
          <a:ln w="15875">
            <a:solidFill>
              <a:srgbClr val="1E4A6E"/>
            </a:solidFill>
            <a:prstDash val="solid"/>
          </a:ln>
        </p:spPr>
      </p:sp>
      <p:sp>
        <p:nvSpPr>
          <p:cNvPr id="12" name="Text 10"/>
          <p:cNvSpPr/>
          <p:nvPr/>
        </p:nvSpPr>
        <p:spPr>
          <a:xfrm>
            <a:off x="3264408" y="1417320"/>
            <a:ext cx="2615184"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メイリオ" pitchFamily="34" charset="0"/>
                <a:ea typeface="メイリオ" pitchFamily="34" charset="-122"/>
                <a:cs typeface="メイリオ" pitchFamily="34" charset="-120"/>
              </a:rPr>
              <a:t>Why?</a:t>
            </a:r>
            <a:endParaRPr lang="en-US" sz="2200" dirty="0"/>
          </a:p>
        </p:txBody>
      </p:sp>
      <p:sp>
        <p:nvSpPr>
          <p:cNvPr id="13" name="Shape 11"/>
          <p:cNvSpPr/>
          <p:nvPr/>
        </p:nvSpPr>
        <p:spPr>
          <a:xfrm>
            <a:off x="3264408" y="2057400"/>
            <a:ext cx="2615184" cy="1143000"/>
          </a:xfrm>
          <a:prstGeom prst="rect">
            <a:avLst/>
          </a:prstGeom>
          <a:solidFill>
            <a:srgbClr val="EAF2F7"/>
          </a:solidFill>
          <a:ln w="15875">
            <a:solidFill>
              <a:srgbClr val="EAF2F7"/>
            </a:solidFill>
            <a:prstDash val="solid"/>
          </a:ln>
        </p:spPr>
      </p:sp>
      <p:sp>
        <p:nvSpPr>
          <p:cNvPr id="14" name="Text 12"/>
          <p:cNvSpPr/>
          <p:nvPr/>
        </p:nvSpPr>
        <p:spPr>
          <a:xfrm>
            <a:off x="3355848" y="2057400"/>
            <a:ext cx="2432304" cy="1143000"/>
          </a:xfrm>
          <a:prstGeom prst="rect">
            <a:avLst/>
          </a:prstGeom>
          <a:noFill/>
          <a:ln/>
        </p:spPr>
        <p:txBody>
          <a:bodyPr wrap="square" lIns="0" tIns="0" rIns="0" bIns="0" rtlCol="0" anchor="ctr"/>
          <a:lstStyle/>
          <a:p>
            <a:pPr algn="ctr" indent="0" marL="0">
              <a:buNone/>
            </a:pPr>
            <a:r>
              <a:rPr lang="en-US" sz="1700" b="1" dirty="0">
                <a:solidFill>
                  <a:srgbClr val="12324A"/>
                </a:solidFill>
                <a:latin typeface="メイリオ" pitchFamily="34" charset="0"/>
                <a:ea typeface="メイリオ" pitchFamily="34" charset="-122"/>
                <a:cs typeface="メイリオ" pitchFamily="34" charset="-120"/>
              </a:rPr>
              <a:t>そう思われるのは、</a:t>
            </a:r>
            <a:endParaRPr lang="en-US" sz="1700" dirty="0"/>
          </a:p>
          <a:p>
            <a:pPr algn="ctr" indent="0" marL="0">
              <a:buNone/>
            </a:pPr>
            <a:r>
              <a:rPr lang="en-US" sz="1700" b="1" dirty="0">
                <a:solidFill>
                  <a:srgbClr val="12324A"/>
                </a:solidFill>
                <a:latin typeface="メイリオ" pitchFamily="34" charset="0"/>
                <a:ea typeface="メイリオ" pitchFamily="34" charset="-122"/>
                <a:cs typeface="メイリオ" pitchFamily="34" charset="-120"/>
              </a:rPr>
              <a:t>どうしてですか</a:t>
            </a:r>
            <a:endParaRPr lang="en-US" sz="1700" dirty="0"/>
          </a:p>
        </p:txBody>
      </p:sp>
      <p:sp>
        <p:nvSpPr>
          <p:cNvPr id="15" name="Text 13"/>
          <p:cNvSpPr/>
          <p:nvPr/>
        </p:nvSpPr>
        <p:spPr>
          <a:xfrm>
            <a:off x="3264408" y="3291840"/>
            <a:ext cx="2615184" cy="411480"/>
          </a:xfrm>
          <a:prstGeom prst="rect">
            <a:avLst/>
          </a:prstGeom>
          <a:noFill/>
          <a:ln/>
        </p:spPr>
        <p:txBody>
          <a:bodyPr wrap="square" lIns="0" tIns="0" rIns="0" bIns="0" rtlCol="0" anchor="ctr"/>
          <a:lstStyle/>
          <a:p>
            <a:pPr algn="ctr" indent="0" marL="0">
              <a:buNone/>
            </a:pPr>
            <a:r>
              <a:rPr lang="en-US" sz="1500" dirty="0">
                <a:solidFill>
                  <a:srgbClr val="12324A"/>
                </a:solidFill>
                <a:latin typeface="メイリオ" pitchFamily="34" charset="0"/>
                <a:ea typeface="メイリオ" pitchFamily="34" charset="-122"/>
                <a:cs typeface="メイリオ" pitchFamily="34" charset="-120"/>
              </a:rPr>
              <a:t>理由・価値観に降りる</a:t>
            </a:r>
            <a:endParaRPr lang="en-US" sz="1500" dirty="0"/>
          </a:p>
        </p:txBody>
      </p:sp>
      <p:sp>
        <p:nvSpPr>
          <p:cNvPr id="16" name="Shape 14"/>
          <p:cNvSpPr/>
          <p:nvPr/>
        </p:nvSpPr>
        <p:spPr>
          <a:xfrm>
            <a:off x="6071616" y="1417320"/>
            <a:ext cx="2615184" cy="640080"/>
          </a:xfrm>
          <a:prstGeom prst="rect">
            <a:avLst/>
          </a:prstGeom>
          <a:solidFill>
            <a:srgbClr val="1E4A6E"/>
          </a:solidFill>
          <a:ln w="15875">
            <a:solidFill>
              <a:srgbClr val="1E4A6E"/>
            </a:solidFill>
            <a:prstDash val="solid"/>
          </a:ln>
        </p:spPr>
      </p:sp>
      <p:sp>
        <p:nvSpPr>
          <p:cNvPr id="17" name="Text 15"/>
          <p:cNvSpPr/>
          <p:nvPr/>
        </p:nvSpPr>
        <p:spPr>
          <a:xfrm>
            <a:off x="6071616" y="1417320"/>
            <a:ext cx="2615184"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メイリオ" pitchFamily="34" charset="0"/>
                <a:ea typeface="メイリオ" pitchFamily="34" charset="-122"/>
                <a:cs typeface="メイリオ" pitchFamily="34" charset="-120"/>
              </a:rPr>
              <a:t>What else?</a:t>
            </a:r>
            <a:endParaRPr lang="en-US" sz="2200" dirty="0"/>
          </a:p>
        </p:txBody>
      </p:sp>
      <p:sp>
        <p:nvSpPr>
          <p:cNvPr id="18" name="Shape 16"/>
          <p:cNvSpPr/>
          <p:nvPr/>
        </p:nvSpPr>
        <p:spPr>
          <a:xfrm>
            <a:off x="6071616" y="2057400"/>
            <a:ext cx="2615184" cy="1143000"/>
          </a:xfrm>
          <a:prstGeom prst="rect">
            <a:avLst/>
          </a:prstGeom>
          <a:solidFill>
            <a:srgbClr val="EAF2F7"/>
          </a:solidFill>
          <a:ln w="15875">
            <a:solidFill>
              <a:srgbClr val="EAF2F7"/>
            </a:solidFill>
            <a:prstDash val="solid"/>
          </a:ln>
        </p:spPr>
      </p:sp>
      <p:sp>
        <p:nvSpPr>
          <p:cNvPr id="19" name="Text 17"/>
          <p:cNvSpPr/>
          <p:nvPr/>
        </p:nvSpPr>
        <p:spPr>
          <a:xfrm>
            <a:off x="6163056" y="2057400"/>
            <a:ext cx="2432304" cy="1143000"/>
          </a:xfrm>
          <a:prstGeom prst="rect">
            <a:avLst/>
          </a:prstGeom>
          <a:noFill/>
          <a:ln/>
        </p:spPr>
        <p:txBody>
          <a:bodyPr wrap="square" lIns="0" tIns="0" rIns="0" bIns="0" rtlCol="0" anchor="ctr"/>
          <a:lstStyle/>
          <a:p>
            <a:pPr algn="ctr" indent="0" marL="0">
              <a:buNone/>
            </a:pPr>
            <a:r>
              <a:rPr lang="en-US" sz="1700" b="1" dirty="0">
                <a:solidFill>
                  <a:srgbClr val="12324A"/>
                </a:solidFill>
                <a:latin typeface="メイリオ" pitchFamily="34" charset="0"/>
                <a:ea typeface="メイリオ" pitchFamily="34" charset="-122"/>
                <a:cs typeface="メイリオ" pitchFamily="34" charset="-120"/>
              </a:rPr>
              <a:t>ほかには</a:t>
            </a:r>
            <a:endParaRPr lang="en-US" sz="1700" dirty="0"/>
          </a:p>
          <a:p>
            <a:pPr algn="ctr" indent="0" marL="0">
              <a:buNone/>
            </a:pPr>
            <a:r>
              <a:rPr lang="en-US" sz="1700" b="1" dirty="0">
                <a:solidFill>
                  <a:srgbClr val="12324A"/>
                </a:solidFill>
                <a:latin typeface="メイリオ" pitchFamily="34" charset="0"/>
                <a:ea typeface="メイリオ" pitchFamily="34" charset="-122"/>
                <a:cs typeface="メイリオ" pitchFamily="34" charset="-120"/>
              </a:rPr>
              <a:t>ありますか</a:t>
            </a:r>
            <a:endParaRPr lang="en-US" sz="1700" dirty="0"/>
          </a:p>
        </p:txBody>
      </p:sp>
      <p:sp>
        <p:nvSpPr>
          <p:cNvPr id="20" name="Text 18"/>
          <p:cNvSpPr/>
          <p:nvPr/>
        </p:nvSpPr>
        <p:spPr>
          <a:xfrm>
            <a:off x="6071616" y="3291840"/>
            <a:ext cx="2615184" cy="411480"/>
          </a:xfrm>
          <a:prstGeom prst="rect">
            <a:avLst/>
          </a:prstGeom>
          <a:noFill/>
          <a:ln/>
        </p:spPr>
        <p:txBody>
          <a:bodyPr wrap="square" lIns="0" tIns="0" rIns="0" bIns="0" rtlCol="0" anchor="ctr"/>
          <a:lstStyle/>
          <a:p>
            <a:pPr algn="ctr" indent="0" marL="0">
              <a:buNone/>
            </a:pPr>
            <a:r>
              <a:rPr lang="en-US" sz="1500" dirty="0">
                <a:solidFill>
                  <a:srgbClr val="12324A"/>
                </a:solidFill>
                <a:latin typeface="メイリオ" pitchFamily="34" charset="0"/>
                <a:ea typeface="メイリオ" pitchFamily="34" charset="-122"/>
                <a:cs typeface="メイリオ" pitchFamily="34" charset="-120"/>
              </a:rPr>
              <a:t>最初の答えだけで決めない</a:t>
            </a:r>
            <a:endParaRPr lang="en-US" sz="1500" dirty="0"/>
          </a:p>
        </p:txBody>
      </p:sp>
      <p:sp>
        <p:nvSpPr>
          <p:cNvPr id="21" name="Text 19"/>
          <p:cNvSpPr/>
          <p:nvPr/>
        </p:nvSpPr>
        <p:spPr>
          <a:xfrm>
            <a:off x="457200" y="3977640"/>
            <a:ext cx="8229600" cy="45720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「なぜ」は詰問に聞こえやすい → </a:t>
            </a:r>
            <a:pPr indent="0" marL="0">
              <a:buNone/>
            </a:pPr>
            <a:r>
              <a:rPr lang="en-US" sz="1500" dirty="0">
                <a:solidFill>
                  <a:srgbClr val="12324A"/>
                </a:solidFill>
                <a:latin typeface="メイリオ" pitchFamily="34" charset="0"/>
                <a:ea typeface="メイリオ" pitchFamily="34" charset="-122"/>
                <a:cs typeface="メイリオ" pitchFamily="34" charset="-120"/>
              </a:rPr>
              <a:t>「どうしてそう感じるか、伺っても？」と柔らかく</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9</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掘り下げの例：「寝たきりは嫌」</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本当に避けたいものは何か</a:t>
            </a:r>
            <a:endParaRPr lang="en-US" sz="1700" dirty="0"/>
          </a:p>
        </p:txBody>
      </p:sp>
      <p:sp>
        <p:nvSpPr>
          <p:cNvPr id="6" name="Text 4"/>
          <p:cNvSpPr/>
          <p:nvPr/>
        </p:nvSpPr>
        <p:spPr>
          <a:xfrm>
            <a:off x="457200" y="1371600"/>
            <a:ext cx="1417320" cy="402336"/>
          </a:xfrm>
          <a:prstGeom prst="rect">
            <a:avLst/>
          </a:prstGeom>
          <a:noFill/>
          <a:ln/>
        </p:spPr>
        <p:txBody>
          <a:bodyPr wrap="square" lIns="0" tIns="0" rIns="0" bIns="0" rtlCol="0" anchor="ctr"/>
          <a:lstStyle/>
          <a:p>
            <a:pPr indent="0" marL="0">
              <a:buNone/>
            </a:pPr>
            <a:r>
              <a:rPr lang="en-US" sz="1400" b="1" dirty="0">
                <a:solidFill>
                  <a:srgbClr val="12324A"/>
                </a:solidFill>
                <a:latin typeface="メイリオ" pitchFamily="34" charset="0"/>
                <a:ea typeface="メイリオ" pitchFamily="34" charset="-122"/>
                <a:cs typeface="メイリオ" pitchFamily="34" charset="-120"/>
              </a:rPr>
              <a:t>患者</a:t>
            </a:r>
            <a:endParaRPr lang="en-US" sz="1400" dirty="0"/>
          </a:p>
        </p:txBody>
      </p:sp>
      <p:sp>
        <p:nvSpPr>
          <p:cNvPr id="7" name="Shape 5"/>
          <p:cNvSpPr/>
          <p:nvPr/>
        </p:nvSpPr>
        <p:spPr>
          <a:xfrm>
            <a:off x="1920240" y="1371600"/>
            <a:ext cx="4663440" cy="402336"/>
          </a:xfrm>
          <a:prstGeom prst="rect">
            <a:avLst/>
          </a:prstGeom>
          <a:solidFill>
            <a:srgbClr val="EAF2F7"/>
          </a:solidFill>
          <a:ln w="15875">
            <a:solidFill>
              <a:srgbClr val="EAF2F7"/>
            </a:solidFill>
            <a:prstDash val="solid"/>
          </a:ln>
        </p:spPr>
      </p:sp>
      <p:sp>
        <p:nvSpPr>
          <p:cNvPr id="8" name="Text 6"/>
          <p:cNvSpPr/>
          <p:nvPr/>
        </p:nvSpPr>
        <p:spPr>
          <a:xfrm>
            <a:off x="2011680" y="1371600"/>
            <a:ext cx="4526280" cy="402336"/>
          </a:xfrm>
          <a:prstGeom prst="rect">
            <a:avLst/>
          </a:prstGeom>
          <a:noFill/>
          <a:ln/>
        </p:spPr>
        <p:txBody>
          <a:bodyPr wrap="square" lIns="0" tIns="0" rIns="0" bIns="0" rtlCol="0" anchor="ctr"/>
          <a:lstStyle/>
          <a:p>
            <a:pPr indent="0" marL="0">
              <a:buNone/>
            </a:pPr>
            <a:r>
              <a:rPr lang="en-US" sz="1400" dirty="0">
                <a:solidFill>
                  <a:srgbClr val="12324A"/>
                </a:solidFill>
                <a:latin typeface="メイリオ" pitchFamily="34" charset="0"/>
                <a:ea typeface="メイリオ" pitchFamily="34" charset="-122"/>
                <a:cs typeface="メイリオ" pitchFamily="34" charset="-120"/>
              </a:rPr>
              <a:t>寝たきりにはなりたくないね。</a:t>
            </a:r>
            <a:endParaRPr lang="en-US" sz="1400" dirty="0"/>
          </a:p>
        </p:txBody>
      </p:sp>
      <p:sp>
        <p:nvSpPr>
          <p:cNvPr id="9" name="Text 7"/>
          <p:cNvSpPr/>
          <p:nvPr/>
        </p:nvSpPr>
        <p:spPr>
          <a:xfrm>
            <a:off x="457200" y="1828800"/>
            <a:ext cx="1417320" cy="402336"/>
          </a:xfrm>
          <a:prstGeom prst="rect">
            <a:avLst/>
          </a:prstGeom>
          <a:noFill/>
          <a:ln/>
        </p:spPr>
        <p:txBody>
          <a:bodyPr wrap="square" lIns="0" tIns="0" rIns="0" bIns="0" rtlCol="0" anchor="ctr"/>
          <a:lstStyle/>
          <a:p>
            <a:pPr indent="0" marL="0">
              <a:buNone/>
            </a:pPr>
            <a:r>
              <a:rPr lang="en-US" sz="1400" b="1" dirty="0">
                <a:solidFill>
                  <a:srgbClr val="C9661A"/>
                </a:solidFill>
                <a:latin typeface="メイリオ" pitchFamily="34" charset="0"/>
                <a:ea typeface="メイリオ" pitchFamily="34" charset="-122"/>
                <a:cs typeface="メイリオ" pitchFamily="34" charset="-120"/>
              </a:rPr>
              <a:t>Why?</a:t>
            </a:r>
            <a:endParaRPr lang="en-US" sz="1400" dirty="0"/>
          </a:p>
        </p:txBody>
      </p:sp>
      <p:sp>
        <p:nvSpPr>
          <p:cNvPr id="10" name="Shape 8"/>
          <p:cNvSpPr/>
          <p:nvPr/>
        </p:nvSpPr>
        <p:spPr>
          <a:xfrm>
            <a:off x="1920240" y="1828800"/>
            <a:ext cx="4663440" cy="402336"/>
          </a:xfrm>
          <a:prstGeom prst="rect">
            <a:avLst/>
          </a:prstGeom>
          <a:solidFill>
            <a:srgbClr val="FBF0E4"/>
          </a:solidFill>
          <a:ln w="15875">
            <a:solidFill>
              <a:srgbClr val="FBF0E4"/>
            </a:solidFill>
            <a:prstDash val="solid"/>
          </a:ln>
        </p:spPr>
      </p:sp>
      <p:sp>
        <p:nvSpPr>
          <p:cNvPr id="11" name="Text 9"/>
          <p:cNvSpPr/>
          <p:nvPr/>
        </p:nvSpPr>
        <p:spPr>
          <a:xfrm>
            <a:off x="2011680" y="1828800"/>
            <a:ext cx="4526280" cy="402336"/>
          </a:xfrm>
          <a:prstGeom prst="rect">
            <a:avLst/>
          </a:prstGeom>
          <a:noFill/>
          <a:ln/>
        </p:spPr>
        <p:txBody>
          <a:bodyPr wrap="square" lIns="0" tIns="0" rIns="0" bIns="0" rtlCol="0" anchor="ctr"/>
          <a:lstStyle/>
          <a:p>
            <a:pPr indent="0" marL="0">
              <a:buNone/>
            </a:pPr>
            <a:r>
              <a:rPr lang="en-US" sz="1400" dirty="0">
                <a:solidFill>
                  <a:srgbClr val="12324A"/>
                </a:solidFill>
                <a:latin typeface="メイリオ" pitchFamily="34" charset="0"/>
                <a:ea typeface="メイリオ" pitchFamily="34" charset="-122"/>
                <a:cs typeface="メイリオ" pitchFamily="34" charset="-120"/>
              </a:rPr>
              <a:t>寝たきりが嫌だと思われるのは、どうしてですか。</a:t>
            </a:r>
            <a:endParaRPr lang="en-US" sz="1400" dirty="0"/>
          </a:p>
        </p:txBody>
      </p:sp>
      <p:sp>
        <p:nvSpPr>
          <p:cNvPr id="12" name="Text 10"/>
          <p:cNvSpPr/>
          <p:nvPr/>
        </p:nvSpPr>
        <p:spPr>
          <a:xfrm>
            <a:off x="457200" y="2286000"/>
            <a:ext cx="1417320" cy="402336"/>
          </a:xfrm>
          <a:prstGeom prst="rect">
            <a:avLst/>
          </a:prstGeom>
          <a:noFill/>
          <a:ln/>
        </p:spPr>
        <p:txBody>
          <a:bodyPr wrap="square" lIns="0" tIns="0" rIns="0" bIns="0" rtlCol="0" anchor="ctr"/>
          <a:lstStyle/>
          <a:p>
            <a:pPr indent="0" marL="0">
              <a:buNone/>
            </a:pPr>
            <a:r>
              <a:rPr lang="en-US" sz="1400" b="1" dirty="0">
                <a:solidFill>
                  <a:srgbClr val="12324A"/>
                </a:solidFill>
                <a:latin typeface="メイリオ" pitchFamily="34" charset="0"/>
                <a:ea typeface="メイリオ" pitchFamily="34" charset="-122"/>
                <a:cs typeface="メイリオ" pitchFamily="34" charset="-120"/>
              </a:rPr>
              <a:t>患者</a:t>
            </a:r>
            <a:endParaRPr lang="en-US" sz="1400" dirty="0"/>
          </a:p>
        </p:txBody>
      </p:sp>
      <p:sp>
        <p:nvSpPr>
          <p:cNvPr id="13" name="Shape 11"/>
          <p:cNvSpPr/>
          <p:nvPr/>
        </p:nvSpPr>
        <p:spPr>
          <a:xfrm>
            <a:off x="1920240" y="2286000"/>
            <a:ext cx="4663440" cy="402336"/>
          </a:xfrm>
          <a:prstGeom prst="rect">
            <a:avLst/>
          </a:prstGeom>
          <a:solidFill>
            <a:srgbClr val="EAF2F7"/>
          </a:solidFill>
          <a:ln w="15875">
            <a:solidFill>
              <a:srgbClr val="EAF2F7"/>
            </a:solidFill>
            <a:prstDash val="solid"/>
          </a:ln>
        </p:spPr>
      </p:sp>
      <p:sp>
        <p:nvSpPr>
          <p:cNvPr id="14" name="Text 12"/>
          <p:cNvSpPr/>
          <p:nvPr/>
        </p:nvSpPr>
        <p:spPr>
          <a:xfrm>
            <a:off x="2011680" y="2286000"/>
            <a:ext cx="4526280" cy="402336"/>
          </a:xfrm>
          <a:prstGeom prst="rect">
            <a:avLst/>
          </a:prstGeom>
          <a:noFill/>
          <a:ln/>
        </p:spPr>
        <p:txBody>
          <a:bodyPr wrap="square" lIns="0" tIns="0" rIns="0" bIns="0" rtlCol="0" anchor="ctr"/>
          <a:lstStyle/>
          <a:p>
            <a:pPr indent="0" marL="0">
              <a:buNone/>
            </a:pPr>
            <a:r>
              <a:rPr lang="en-US" sz="1400" dirty="0">
                <a:solidFill>
                  <a:srgbClr val="12324A"/>
                </a:solidFill>
                <a:latin typeface="メイリオ" pitchFamily="34" charset="0"/>
                <a:ea typeface="メイリオ" pitchFamily="34" charset="-122"/>
                <a:cs typeface="メイリオ" pitchFamily="34" charset="-120"/>
              </a:rPr>
              <a:t>母は最後寝たきりで、下の世話を娘にさせていた。</a:t>
            </a:r>
            <a:endParaRPr lang="en-US" sz="1400" dirty="0"/>
          </a:p>
        </p:txBody>
      </p:sp>
      <p:sp>
        <p:nvSpPr>
          <p:cNvPr id="15" name="Text 13"/>
          <p:cNvSpPr/>
          <p:nvPr/>
        </p:nvSpPr>
        <p:spPr>
          <a:xfrm>
            <a:off x="457200" y="2743200"/>
            <a:ext cx="1417320" cy="402336"/>
          </a:xfrm>
          <a:prstGeom prst="rect">
            <a:avLst/>
          </a:prstGeom>
          <a:noFill/>
          <a:ln/>
        </p:spPr>
        <p:txBody>
          <a:bodyPr wrap="square" lIns="0" tIns="0" rIns="0" bIns="0" rtlCol="0" anchor="ctr"/>
          <a:lstStyle/>
          <a:p>
            <a:pPr indent="0" marL="0">
              <a:buNone/>
            </a:pPr>
            <a:r>
              <a:rPr lang="en-US" sz="1400" b="1" dirty="0">
                <a:solidFill>
                  <a:srgbClr val="C9661A"/>
                </a:solidFill>
                <a:latin typeface="メイリオ" pitchFamily="34" charset="0"/>
                <a:ea typeface="メイリオ" pitchFamily="34" charset="-122"/>
                <a:cs typeface="メイリオ" pitchFamily="34" charset="-120"/>
              </a:rPr>
              <a:t>Tell me more</a:t>
            </a:r>
            <a:endParaRPr lang="en-US" sz="1400" dirty="0"/>
          </a:p>
        </p:txBody>
      </p:sp>
      <p:sp>
        <p:nvSpPr>
          <p:cNvPr id="16" name="Shape 14"/>
          <p:cNvSpPr/>
          <p:nvPr/>
        </p:nvSpPr>
        <p:spPr>
          <a:xfrm>
            <a:off x="1920240" y="2743200"/>
            <a:ext cx="4663440" cy="402336"/>
          </a:xfrm>
          <a:prstGeom prst="rect">
            <a:avLst/>
          </a:prstGeom>
          <a:solidFill>
            <a:srgbClr val="FBF0E4"/>
          </a:solidFill>
          <a:ln w="15875">
            <a:solidFill>
              <a:srgbClr val="FBF0E4"/>
            </a:solidFill>
            <a:prstDash val="solid"/>
          </a:ln>
        </p:spPr>
      </p:sp>
      <p:sp>
        <p:nvSpPr>
          <p:cNvPr id="17" name="Text 15"/>
          <p:cNvSpPr/>
          <p:nvPr/>
        </p:nvSpPr>
        <p:spPr>
          <a:xfrm>
            <a:off x="2011680" y="2743200"/>
            <a:ext cx="4526280" cy="402336"/>
          </a:xfrm>
          <a:prstGeom prst="rect">
            <a:avLst/>
          </a:prstGeom>
          <a:noFill/>
          <a:ln/>
        </p:spPr>
        <p:txBody>
          <a:bodyPr wrap="square" lIns="0" tIns="0" rIns="0" bIns="0" rtlCol="0" anchor="ctr"/>
          <a:lstStyle/>
          <a:p>
            <a:pPr indent="0" marL="0">
              <a:buNone/>
            </a:pPr>
            <a:r>
              <a:rPr lang="en-US" sz="1400" dirty="0">
                <a:solidFill>
                  <a:srgbClr val="12324A"/>
                </a:solidFill>
                <a:latin typeface="メイリオ" pitchFamily="34" charset="0"/>
                <a:ea typeface="メイリオ" pitchFamily="34" charset="-122"/>
                <a:cs typeface="メイリオ" pitchFamily="34" charset="-120"/>
              </a:rPr>
              <a:t>お母さまのときのこと、もう少し聞かせてください。</a:t>
            </a:r>
            <a:endParaRPr lang="en-US" sz="1400" dirty="0"/>
          </a:p>
        </p:txBody>
      </p:sp>
      <p:sp>
        <p:nvSpPr>
          <p:cNvPr id="18" name="Text 16"/>
          <p:cNvSpPr/>
          <p:nvPr/>
        </p:nvSpPr>
        <p:spPr>
          <a:xfrm>
            <a:off x="457200" y="3200400"/>
            <a:ext cx="1417320" cy="402336"/>
          </a:xfrm>
          <a:prstGeom prst="rect">
            <a:avLst/>
          </a:prstGeom>
          <a:noFill/>
          <a:ln/>
        </p:spPr>
        <p:txBody>
          <a:bodyPr wrap="square" lIns="0" tIns="0" rIns="0" bIns="0" rtlCol="0" anchor="ctr"/>
          <a:lstStyle/>
          <a:p>
            <a:pPr indent="0" marL="0">
              <a:buNone/>
            </a:pPr>
            <a:r>
              <a:rPr lang="en-US" sz="1400" b="1" dirty="0">
                <a:solidFill>
                  <a:srgbClr val="12324A"/>
                </a:solidFill>
                <a:latin typeface="メイリオ" pitchFamily="34" charset="0"/>
                <a:ea typeface="メイリオ" pitchFamily="34" charset="-122"/>
                <a:cs typeface="メイリオ" pitchFamily="34" charset="-120"/>
              </a:rPr>
              <a:t>患者</a:t>
            </a:r>
            <a:endParaRPr lang="en-US" sz="1400" dirty="0"/>
          </a:p>
        </p:txBody>
      </p:sp>
      <p:sp>
        <p:nvSpPr>
          <p:cNvPr id="19" name="Shape 17"/>
          <p:cNvSpPr/>
          <p:nvPr/>
        </p:nvSpPr>
        <p:spPr>
          <a:xfrm>
            <a:off x="1920240" y="3200400"/>
            <a:ext cx="4663440" cy="402336"/>
          </a:xfrm>
          <a:prstGeom prst="rect">
            <a:avLst/>
          </a:prstGeom>
          <a:solidFill>
            <a:srgbClr val="EAF2F7"/>
          </a:solidFill>
          <a:ln w="15875">
            <a:solidFill>
              <a:srgbClr val="EAF2F7"/>
            </a:solidFill>
            <a:prstDash val="solid"/>
          </a:ln>
        </p:spPr>
      </p:sp>
      <p:sp>
        <p:nvSpPr>
          <p:cNvPr id="20" name="Text 18"/>
          <p:cNvSpPr/>
          <p:nvPr/>
        </p:nvSpPr>
        <p:spPr>
          <a:xfrm>
            <a:off x="2011680" y="3200400"/>
            <a:ext cx="4526280" cy="402336"/>
          </a:xfrm>
          <a:prstGeom prst="rect">
            <a:avLst/>
          </a:prstGeom>
          <a:noFill/>
          <a:ln/>
        </p:spPr>
        <p:txBody>
          <a:bodyPr wrap="square" lIns="0" tIns="0" rIns="0" bIns="0" rtlCol="0" anchor="ctr"/>
          <a:lstStyle/>
          <a:p>
            <a:pPr indent="0" marL="0">
              <a:buNone/>
            </a:pPr>
            <a:r>
              <a:rPr lang="en-US" sz="1400" dirty="0">
                <a:solidFill>
                  <a:srgbClr val="12324A"/>
                </a:solidFill>
                <a:latin typeface="メイリオ" pitchFamily="34" charset="0"/>
                <a:ea typeface="メイリオ" pitchFamily="34" charset="-122"/>
                <a:cs typeface="メイリオ" pitchFamily="34" charset="-120"/>
              </a:rPr>
              <a:t>話もできず、何を思っていたか誰にもわからなかった。</a:t>
            </a:r>
            <a:endParaRPr lang="en-US" sz="1400" dirty="0"/>
          </a:p>
        </p:txBody>
      </p:sp>
      <p:sp>
        <p:nvSpPr>
          <p:cNvPr id="21" name="Shape 19"/>
          <p:cNvSpPr/>
          <p:nvPr/>
        </p:nvSpPr>
        <p:spPr>
          <a:xfrm>
            <a:off x="6766560" y="1371600"/>
            <a:ext cx="1920240" cy="2231136"/>
          </a:xfrm>
          <a:prstGeom prst="rect">
            <a:avLst/>
          </a:prstGeom>
          <a:solidFill>
            <a:srgbClr val="B23A2B"/>
          </a:solidFill>
          <a:ln w="15875">
            <a:solidFill>
              <a:srgbClr val="B23A2B"/>
            </a:solidFill>
            <a:prstDash val="solid"/>
          </a:ln>
        </p:spPr>
      </p:sp>
      <p:sp>
        <p:nvSpPr>
          <p:cNvPr id="22" name="Text 20"/>
          <p:cNvSpPr/>
          <p:nvPr/>
        </p:nvSpPr>
        <p:spPr>
          <a:xfrm>
            <a:off x="6858000" y="1417320"/>
            <a:ext cx="1737360" cy="2139696"/>
          </a:xfrm>
          <a:prstGeom prst="rect">
            <a:avLst/>
          </a:prstGeom>
          <a:noFill/>
          <a:ln/>
        </p:spPr>
        <p:txBody>
          <a:bodyPr wrap="square" lIns="0" tIns="0" rIns="0" bIns="0"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見えてきた
こと
</a:t>
            </a:r>
            <a:pPr indent="0" marL="0">
              <a:buNone/>
            </a:pPr>
            <a:r>
              <a:rPr lang="en-US" sz="1400" dirty="0">
                <a:solidFill>
                  <a:srgbClr val="FFFFFF"/>
                </a:solidFill>
                <a:latin typeface="メイリオ" pitchFamily="34" charset="0"/>
                <a:ea typeface="メイリオ" pitchFamily="34" charset="-122"/>
                <a:cs typeface="メイリオ" pitchFamily="34" charset="-120"/>
              </a:rPr>
              <a:t>①娘に排泄の世話をさせたくない</a:t>
            </a:r>
            <a:endParaRPr lang="en-US" sz="1800" dirty="0"/>
          </a:p>
          <a:p>
            <a:pPr indent="0" marL="0">
              <a:buNone/>
            </a:pPr>
            <a:r>
              <a:rPr lang="en-US" sz="1400" dirty="0">
                <a:solidFill>
                  <a:srgbClr val="FFFFFF"/>
                </a:solidFill>
                <a:latin typeface="メイリオ" pitchFamily="34" charset="0"/>
                <a:ea typeface="メイリオ" pitchFamily="34" charset="-122"/>
                <a:cs typeface="メイリオ" pitchFamily="34" charset="-120"/>
              </a:rPr>
              <a:t>②意思を伝えられなくなるのが嫌</a:t>
            </a:r>
            <a:endParaRPr lang="en-US" sz="1800" dirty="0"/>
          </a:p>
        </p:txBody>
      </p:sp>
      <p:sp>
        <p:nvSpPr>
          <p:cNvPr id="23" name="Shape 21"/>
          <p:cNvSpPr/>
          <p:nvPr/>
        </p:nvSpPr>
        <p:spPr>
          <a:xfrm>
            <a:off x="457200" y="3794760"/>
            <a:ext cx="8229600" cy="731520"/>
          </a:xfrm>
          <a:prstGeom prst="rect">
            <a:avLst/>
          </a:prstGeom>
          <a:solidFill>
            <a:srgbClr val="F4F6F8"/>
          </a:solidFill>
          <a:ln w="15875">
            <a:solidFill>
              <a:srgbClr val="9FB3C2"/>
            </a:solidFill>
            <a:prstDash val="solid"/>
          </a:ln>
        </p:spPr>
      </p:sp>
      <p:sp>
        <p:nvSpPr>
          <p:cNvPr id="24" name="Text 22"/>
          <p:cNvSpPr/>
          <p:nvPr/>
        </p:nvSpPr>
        <p:spPr>
          <a:xfrm>
            <a:off x="640080" y="3794760"/>
            <a:ext cx="7863840" cy="731520"/>
          </a:xfrm>
          <a:prstGeom prst="rect">
            <a:avLst/>
          </a:prstGeom>
          <a:noFill/>
          <a:ln/>
        </p:spPr>
        <p:txBody>
          <a:bodyPr wrap="square" lIns="0" tIns="0" rIns="0" bIns="0" rtlCol="0" anchor="ctr"/>
          <a:lstStyle/>
          <a:p>
            <a:pPr indent="0" marL="0">
              <a:buNone/>
            </a:pPr>
            <a:r>
              <a:rPr lang="en-US" sz="1600" dirty="0">
                <a:solidFill>
                  <a:srgbClr val="12324A"/>
                </a:solidFill>
                <a:latin typeface="メイリオ" pitchFamily="34" charset="0"/>
                <a:ea typeface="メイリオ" pitchFamily="34" charset="-122"/>
                <a:cs typeface="メイリオ" pitchFamily="34" charset="-120"/>
              </a:rPr>
              <a:t>→ 下限は </a:t>
            </a:r>
            <a:pPr indent="0" marL="0">
              <a:buNone/>
            </a:pPr>
            <a:r>
              <a:rPr lang="en-US" sz="1600" b="1" dirty="0">
                <a:solidFill>
                  <a:srgbClr val="12324A"/>
                </a:solidFill>
                <a:latin typeface="メイリオ" pitchFamily="34" charset="0"/>
                <a:ea typeface="メイリオ" pitchFamily="34" charset="-122"/>
                <a:cs typeface="メイリオ" pitchFamily="34" charset="-120"/>
              </a:rPr>
              <a:t>「意思疎通できない」付近</a:t>
            </a:r>
            <a:pPr indent="0" marL="0">
              <a:buNone/>
            </a:pPr>
            <a:r>
              <a:rPr lang="en-US" sz="1600" dirty="0">
                <a:solidFill>
                  <a:srgbClr val="12324A"/>
                </a:solidFill>
                <a:latin typeface="メイリオ" pitchFamily="34" charset="0"/>
                <a:ea typeface="メイリオ" pitchFamily="34" charset="-122"/>
                <a:cs typeface="メイリオ" pitchFamily="34" charset="-120"/>
              </a:rPr>
              <a:t> の可能性。</a:t>
            </a:r>
            <a:pPr indent="0" marL="0">
              <a:buNone/>
            </a:pPr>
            <a:r>
              <a:rPr lang="en-US" sz="1600" b="1" dirty="0">
                <a:solidFill>
                  <a:srgbClr val="B23A2B"/>
                </a:solidFill>
                <a:latin typeface="メイリオ" pitchFamily="34" charset="0"/>
                <a:ea typeface="メイリオ" pitchFamily="34" charset="-122"/>
                <a:cs typeface="メイリオ" pitchFamily="34" charset="-120"/>
              </a:rPr>
              <a:t>推測で止めず本人に確認</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10</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同じ言葉でも、背景は人によって違う</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「迷惑をかけたくない」で記録を終わらせない</a:t>
            </a:r>
            <a:endParaRPr lang="en-US" sz="1700" dirty="0"/>
          </a:p>
        </p:txBody>
      </p:sp>
      <p:sp>
        <p:nvSpPr>
          <p:cNvPr id="6" name="Shape 4"/>
          <p:cNvSpPr/>
          <p:nvPr/>
        </p:nvSpPr>
        <p:spPr>
          <a:xfrm>
            <a:off x="457200" y="1417320"/>
            <a:ext cx="2194560" cy="914400"/>
          </a:xfrm>
          <a:prstGeom prst="rect">
            <a:avLst/>
          </a:prstGeom>
          <a:solidFill>
            <a:srgbClr val="1E4A6E"/>
          </a:solidFill>
          <a:ln w="15875">
            <a:solidFill>
              <a:srgbClr val="1E4A6E"/>
            </a:solidFill>
            <a:prstDash val="solid"/>
          </a:ln>
        </p:spPr>
      </p:sp>
      <p:sp>
        <p:nvSpPr>
          <p:cNvPr id="7" name="Text 5"/>
          <p:cNvSpPr/>
          <p:nvPr/>
        </p:nvSpPr>
        <p:spPr>
          <a:xfrm>
            <a:off x="457200" y="1417320"/>
            <a:ext cx="219456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メイリオ" pitchFamily="34" charset="0"/>
                <a:ea typeface="メイリオ" pitchFamily="34" charset="-122"/>
                <a:cs typeface="メイリオ" pitchFamily="34" charset="-120"/>
              </a:rPr>
              <a:t>家族に迷惑を</a:t>
            </a:r>
            <a:endParaRPr lang="en-US" sz="1700" dirty="0"/>
          </a:p>
          <a:p>
            <a:pPr algn="ctr" indent="0" marL="0">
              <a:buNone/>
            </a:pPr>
            <a:r>
              <a:rPr lang="en-US" sz="1700" b="1" dirty="0">
                <a:solidFill>
                  <a:srgbClr val="FFFFFF"/>
                </a:solidFill>
                <a:latin typeface="メイリオ" pitchFamily="34" charset="0"/>
                <a:ea typeface="メイリオ" pitchFamily="34" charset="-122"/>
                <a:cs typeface="メイリオ" pitchFamily="34" charset="-120"/>
              </a:rPr>
              <a:t>かけたくない</a:t>
            </a:r>
            <a:endParaRPr lang="en-US" sz="1700" dirty="0"/>
          </a:p>
        </p:txBody>
      </p:sp>
      <p:sp>
        <p:nvSpPr>
          <p:cNvPr id="8" name="Shape 6"/>
          <p:cNvSpPr/>
          <p:nvPr/>
        </p:nvSpPr>
        <p:spPr>
          <a:xfrm>
            <a:off x="2651760" y="1417320"/>
            <a:ext cx="6035040" cy="914400"/>
          </a:xfrm>
          <a:prstGeom prst="rect">
            <a:avLst/>
          </a:prstGeom>
          <a:solidFill>
            <a:srgbClr val="EAF2F7"/>
          </a:solidFill>
          <a:ln w="15875">
            <a:solidFill>
              <a:srgbClr val="EAF2F7"/>
            </a:solidFill>
            <a:prstDash val="solid"/>
          </a:ln>
        </p:spPr>
      </p:sp>
      <p:sp>
        <p:nvSpPr>
          <p:cNvPr id="9" name="Text 7"/>
          <p:cNvSpPr/>
          <p:nvPr/>
        </p:nvSpPr>
        <p:spPr>
          <a:xfrm>
            <a:off x="2834640" y="1417320"/>
            <a:ext cx="5715000" cy="914400"/>
          </a:xfrm>
          <a:prstGeom prst="rect">
            <a:avLst/>
          </a:prstGeom>
          <a:noFill/>
          <a:ln/>
        </p:spPr>
        <p:txBody>
          <a:bodyPr wrap="square" lIns="0" tIns="0" rIns="0" bIns="0" rtlCol="0" anchor="ctr"/>
          <a:lstStyle/>
          <a:p>
            <a:pPr indent="0" marL="0">
              <a:lnSpc>
                <a:spcPct val="110000"/>
              </a:lnSpc>
              <a:buNone/>
            </a:pPr>
            <a:r>
              <a:rPr lang="en-US" sz="1500" dirty="0">
                <a:solidFill>
                  <a:srgbClr val="12324A"/>
                </a:solidFill>
                <a:latin typeface="メイリオ" pitchFamily="34" charset="0"/>
                <a:ea typeface="メイリオ" pitchFamily="34" charset="-122"/>
                <a:cs typeface="メイリオ" pitchFamily="34" charset="-120"/>
              </a:rPr>
              <a:t>経済的負担／娘に仕事を辞めさせたくない／頼られる側でいたいという誇り／自分が介護して大変だった経験</a:t>
            </a:r>
            <a:endParaRPr lang="en-US" sz="1500" dirty="0"/>
          </a:p>
        </p:txBody>
      </p:sp>
      <p:sp>
        <p:nvSpPr>
          <p:cNvPr id="10" name="Shape 8"/>
          <p:cNvSpPr/>
          <p:nvPr/>
        </p:nvSpPr>
        <p:spPr>
          <a:xfrm>
            <a:off x="457200" y="2468880"/>
            <a:ext cx="2194560" cy="914400"/>
          </a:xfrm>
          <a:prstGeom prst="rect">
            <a:avLst/>
          </a:prstGeom>
          <a:solidFill>
            <a:srgbClr val="1E4A6E"/>
          </a:solidFill>
          <a:ln w="15875">
            <a:solidFill>
              <a:srgbClr val="1E4A6E"/>
            </a:solidFill>
            <a:prstDash val="solid"/>
          </a:ln>
        </p:spPr>
      </p:sp>
      <p:sp>
        <p:nvSpPr>
          <p:cNvPr id="11" name="Text 9"/>
          <p:cNvSpPr/>
          <p:nvPr/>
        </p:nvSpPr>
        <p:spPr>
          <a:xfrm>
            <a:off x="457200" y="2468880"/>
            <a:ext cx="219456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メイリオ" pitchFamily="34" charset="0"/>
                <a:ea typeface="メイリオ" pitchFamily="34" charset="-122"/>
                <a:cs typeface="メイリオ" pitchFamily="34" charset="-120"/>
              </a:rPr>
              <a:t>寝たきりは嫌</a:t>
            </a:r>
            <a:endParaRPr lang="en-US" sz="1700" dirty="0"/>
          </a:p>
        </p:txBody>
      </p:sp>
      <p:sp>
        <p:nvSpPr>
          <p:cNvPr id="12" name="Shape 10"/>
          <p:cNvSpPr/>
          <p:nvPr/>
        </p:nvSpPr>
        <p:spPr>
          <a:xfrm>
            <a:off x="2651760" y="2468880"/>
            <a:ext cx="6035040" cy="914400"/>
          </a:xfrm>
          <a:prstGeom prst="rect">
            <a:avLst/>
          </a:prstGeom>
          <a:solidFill>
            <a:srgbClr val="EAF2F7"/>
          </a:solidFill>
          <a:ln w="15875">
            <a:solidFill>
              <a:srgbClr val="EAF2F7"/>
            </a:solidFill>
            <a:prstDash val="solid"/>
          </a:ln>
        </p:spPr>
      </p:sp>
      <p:sp>
        <p:nvSpPr>
          <p:cNvPr id="13" name="Text 11"/>
          <p:cNvSpPr/>
          <p:nvPr/>
        </p:nvSpPr>
        <p:spPr>
          <a:xfrm>
            <a:off x="2834640" y="2468880"/>
            <a:ext cx="5715000" cy="914400"/>
          </a:xfrm>
          <a:prstGeom prst="rect">
            <a:avLst/>
          </a:prstGeom>
          <a:noFill/>
          <a:ln/>
        </p:spPr>
        <p:txBody>
          <a:bodyPr wrap="square" lIns="0" tIns="0" rIns="0" bIns="0" rtlCol="0" anchor="ctr"/>
          <a:lstStyle/>
          <a:p>
            <a:pPr indent="0" marL="0">
              <a:lnSpc>
                <a:spcPct val="110000"/>
              </a:lnSpc>
              <a:buNone/>
            </a:pPr>
            <a:r>
              <a:rPr lang="en-US" sz="1500" dirty="0">
                <a:solidFill>
                  <a:srgbClr val="12324A"/>
                </a:solidFill>
                <a:latin typeface="メイリオ" pitchFamily="34" charset="0"/>
                <a:ea typeface="メイリオ" pitchFamily="34" charset="-122"/>
                <a:cs typeface="メイリオ" pitchFamily="34" charset="-120"/>
              </a:rPr>
              <a:t>排泄の介助を受けたくない／外に出られない／痛み・苦しさへの恐れ／意思を伝えられなくなる</a:t>
            </a:r>
            <a:endParaRPr lang="en-US" sz="1500" dirty="0"/>
          </a:p>
        </p:txBody>
      </p:sp>
      <p:sp>
        <p:nvSpPr>
          <p:cNvPr id="14" name="Shape 12"/>
          <p:cNvSpPr/>
          <p:nvPr/>
        </p:nvSpPr>
        <p:spPr>
          <a:xfrm>
            <a:off x="457200" y="3520440"/>
            <a:ext cx="2194560" cy="914400"/>
          </a:xfrm>
          <a:prstGeom prst="rect">
            <a:avLst/>
          </a:prstGeom>
          <a:solidFill>
            <a:srgbClr val="1E4A6E"/>
          </a:solidFill>
          <a:ln w="15875">
            <a:solidFill>
              <a:srgbClr val="1E4A6E"/>
            </a:solidFill>
            <a:prstDash val="solid"/>
          </a:ln>
        </p:spPr>
      </p:sp>
      <p:sp>
        <p:nvSpPr>
          <p:cNvPr id="15" name="Text 13"/>
          <p:cNvSpPr/>
          <p:nvPr/>
        </p:nvSpPr>
        <p:spPr>
          <a:xfrm>
            <a:off x="457200" y="3520440"/>
            <a:ext cx="219456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メイリオ" pitchFamily="34" charset="0"/>
                <a:ea typeface="メイリオ" pitchFamily="34" charset="-122"/>
                <a:cs typeface="メイリオ" pitchFamily="34" charset="-120"/>
              </a:rPr>
              <a:t>機械に</a:t>
            </a:r>
            <a:endParaRPr lang="en-US" sz="1700" dirty="0"/>
          </a:p>
          <a:p>
            <a:pPr algn="ctr" indent="0" marL="0">
              <a:buNone/>
            </a:pPr>
            <a:r>
              <a:rPr lang="en-US" sz="1700" b="1" dirty="0">
                <a:solidFill>
                  <a:srgbClr val="FFFFFF"/>
                </a:solidFill>
                <a:latin typeface="メイリオ" pitchFamily="34" charset="0"/>
                <a:ea typeface="メイリオ" pitchFamily="34" charset="-122"/>
                <a:cs typeface="メイリオ" pitchFamily="34" charset="-120"/>
              </a:rPr>
              <a:t>つながれたくない</a:t>
            </a:r>
            <a:endParaRPr lang="en-US" sz="1700" dirty="0"/>
          </a:p>
        </p:txBody>
      </p:sp>
      <p:sp>
        <p:nvSpPr>
          <p:cNvPr id="16" name="Shape 14"/>
          <p:cNvSpPr/>
          <p:nvPr/>
        </p:nvSpPr>
        <p:spPr>
          <a:xfrm>
            <a:off x="2651760" y="3520440"/>
            <a:ext cx="6035040" cy="914400"/>
          </a:xfrm>
          <a:prstGeom prst="rect">
            <a:avLst/>
          </a:prstGeom>
          <a:solidFill>
            <a:srgbClr val="EAF2F7"/>
          </a:solidFill>
          <a:ln w="15875">
            <a:solidFill>
              <a:srgbClr val="EAF2F7"/>
            </a:solidFill>
            <a:prstDash val="solid"/>
          </a:ln>
        </p:spPr>
      </p:sp>
      <p:sp>
        <p:nvSpPr>
          <p:cNvPr id="17" name="Text 15"/>
          <p:cNvSpPr/>
          <p:nvPr/>
        </p:nvSpPr>
        <p:spPr>
          <a:xfrm>
            <a:off x="2834640" y="3520440"/>
            <a:ext cx="5715000" cy="914400"/>
          </a:xfrm>
          <a:prstGeom prst="rect">
            <a:avLst/>
          </a:prstGeom>
          <a:noFill/>
          <a:ln/>
        </p:spPr>
        <p:txBody>
          <a:bodyPr wrap="square" lIns="0" tIns="0" rIns="0" bIns="0" rtlCol="0" anchor="ctr"/>
          <a:lstStyle/>
          <a:p>
            <a:pPr indent="0" marL="0">
              <a:lnSpc>
                <a:spcPct val="110000"/>
              </a:lnSpc>
              <a:buNone/>
            </a:pPr>
            <a:r>
              <a:rPr lang="en-US" sz="1500" dirty="0">
                <a:solidFill>
                  <a:srgbClr val="12324A"/>
                </a:solidFill>
                <a:latin typeface="メイリオ" pitchFamily="34" charset="0"/>
                <a:ea typeface="メイリオ" pitchFamily="34" charset="-122"/>
                <a:cs typeface="メイリオ" pitchFamily="34" charset="-120"/>
              </a:rPr>
              <a:t>苦しい思いをしたくない／家に帰れなくなる／自分で決められなくなる／テレビで見た姿の印象</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11</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③ スケールと「ゴールはここ」</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会話は夢・楽しみから始まり、悪い方へ下りていく</a:t>
            </a:r>
            <a:endParaRPr lang="en-US" sz="1700" dirty="0"/>
          </a:p>
        </p:txBody>
      </p:sp>
      <p:sp>
        <p:nvSpPr>
          <p:cNvPr id="6" name="Shape 4"/>
          <p:cNvSpPr/>
          <p:nvPr/>
        </p:nvSpPr>
        <p:spPr>
          <a:xfrm>
            <a:off x="1143000" y="1325880"/>
            <a:ext cx="3291840" cy="365760"/>
          </a:xfrm>
          <a:prstGeom prst="rect">
            <a:avLst/>
          </a:prstGeom>
          <a:solidFill>
            <a:srgbClr val="D6E8F4"/>
          </a:solidFill>
          <a:ln w="15875">
            <a:solidFill>
              <a:srgbClr val="D6E8F4"/>
            </a:solidFill>
            <a:prstDash val="solid"/>
          </a:ln>
        </p:spPr>
      </p:sp>
      <p:sp>
        <p:nvSpPr>
          <p:cNvPr id="7" name="Text 5"/>
          <p:cNvSpPr/>
          <p:nvPr/>
        </p:nvSpPr>
        <p:spPr>
          <a:xfrm>
            <a:off x="1280160" y="1325880"/>
            <a:ext cx="301752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プロスポーツ選手・医師</a:t>
            </a:r>
            <a:endParaRPr lang="en-US" sz="1500" dirty="0"/>
          </a:p>
        </p:txBody>
      </p:sp>
      <p:sp>
        <p:nvSpPr>
          <p:cNvPr id="8" name="Shape 6"/>
          <p:cNvSpPr/>
          <p:nvPr/>
        </p:nvSpPr>
        <p:spPr>
          <a:xfrm>
            <a:off x="1143000" y="1746504"/>
            <a:ext cx="3291840" cy="365760"/>
          </a:xfrm>
          <a:prstGeom prst="rect">
            <a:avLst/>
          </a:prstGeom>
          <a:solidFill>
            <a:srgbClr val="C6DFEF"/>
          </a:solidFill>
          <a:ln w="15875">
            <a:solidFill>
              <a:srgbClr val="C6DFEF"/>
            </a:solidFill>
            <a:prstDash val="solid"/>
          </a:ln>
        </p:spPr>
      </p:sp>
      <p:sp>
        <p:nvSpPr>
          <p:cNvPr id="9" name="Text 7"/>
          <p:cNvSpPr/>
          <p:nvPr/>
        </p:nvSpPr>
        <p:spPr>
          <a:xfrm>
            <a:off x="1280160" y="1746504"/>
            <a:ext cx="301752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海外旅行</a:t>
            </a:r>
            <a:endParaRPr lang="en-US" sz="1500" dirty="0"/>
          </a:p>
        </p:txBody>
      </p:sp>
      <p:sp>
        <p:nvSpPr>
          <p:cNvPr id="10" name="Shape 8"/>
          <p:cNvSpPr/>
          <p:nvPr/>
        </p:nvSpPr>
        <p:spPr>
          <a:xfrm>
            <a:off x="1143000" y="2167128"/>
            <a:ext cx="3291840" cy="365760"/>
          </a:xfrm>
          <a:prstGeom prst="rect">
            <a:avLst/>
          </a:prstGeom>
          <a:solidFill>
            <a:srgbClr val="B6D5EA"/>
          </a:solidFill>
          <a:ln w="15875">
            <a:solidFill>
              <a:srgbClr val="B6D5EA"/>
            </a:solidFill>
            <a:prstDash val="solid"/>
          </a:ln>
        </p:spPr>
      </p:sp>
      <p:sp>
        <p:nvSpPr>
          <p:cNvPr id="11" name="Text 9"/>
          <p:cNvSpPr/>
          <p:nvPr/>
        </p:nvSpPr>
        <p:spPr>
          <a:xfrm>
            <a:off x="1280160" y="2167128"/>
            <a:ext cx="301752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恋人を作る</a:t>
            </a:r>
            <a:endParaRPr lang="en-US" sz="1500" dirty="0"/>
          </a:p>
        </p:txBody>
      </p:sp>
      <p:sp>
        <p:nvSpPr>
          <p:cNvPr id="12" name="Shape 10"/>
          <p:cNvSpPr/>
          <p:nvPr/>
        </p:nvSpPr>
        <p:spPr>
          <a:xfrm>
            <a:off x="1143000" y="2587752"/>
            <a:ext cx="3291840" cy="365760"/>
          </a:xfrm>
          <a:prstGeom prst="rect">
            <a:avLst/>
          </a:prstGeom>
          <a:solidFill>
            <a:srgbClr val="A5CBE4"/>
          </a:solidFill>
          <a:ln w="15875">
            <a:solidFill>
              <a:srgbClr val="A5CBE4"/>
            </a:solidFill>
            <a:prstDash val="solid"/>
          </a:ln>
        </p:spPr>
      </p:sp>
      <p:sp>
        <p:nvSpPr>
          <p:cNvPr id="13" name="Text 11"/>
          <p:cNvSpPr/>
          <p:nvPr/>
        </p:nvSpPr>
        <p:spPr>
          <a:xfrm>
            <a:off x="1280160" y="2587752"/>
            <a:ext cx="301752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ゲーム・漫画・テレビ</a:t>
            </a:r>
            <a:endParaRPr lang="en-US" sz="1500" dirty="0"/>
          </a:p>
        </p:txBody>
      </p:sp>
      <p:sp>
        <p:nvSpPr>
          <p:cNvPr id="14" name="Shape 12"/>
          <p:cNvSpPr/>
          <p:nvPr/>
        </p:nvSpPr>
        <p:spPr>
          <a:xfrm>
            <a:off x="1143000" y="3008376"/>
            <a:ext cx="3291840" cy="365760"/>
          </a:xfrm>
          <a:prstGeom prst="rect">
            <a:avLst/>
          </a:prstGeom>
          <a:solidFill>
            <a:srgbClr val="F5DEC9"/>
          </a:solidFill>
          <a:ln w="15875">
            <a:solidFill>
              <a:srgbClr val="F5DEC9"/>
            </a:solidFill>
            <a:prstDash val="solid"/>
          </a:ln>
        </p:spPr>
      </p:sp>
      <p:sp>
        <p:nvSpPr>
          <p:cNvPr id="15" name="Text 13"/>
          <p:cNvSpPr/>
          <p:nvPr/>
        </p:nvSpPr>
        <p:spPr>
          <a:xfrm>
            <a:off x="1280160" y="3008376"/>
            <a:ext cx="301752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入退院を繰り返す</a:t>
            </a:r>
            <a:endParaRPr lang="en-US" sz="1500" dirty="0"/>
          </a:p>
        </p:txBody>
      </p:sp>
      <p:sp>
        <p:nvSpPr>
          <p:cNvPr id="16" name="Shape 14"/>
          <p:cNvSpPr/>
          <p:nvPr/>
        </p:nvSpPr>
        <p:spPr>
          <a:xfrm>
            <a:off x="1143000" y="3429000"/>
            <a:ext cx="3291840" cy="365760"/>
          </a:xfrm>
          <a:prstGeom prst="rect">
            <a:avLst/>
          </a:prstGeom>
          <a:solidFill>
            <a:srgbClr val="F1CDB0"/>
          </a:solidFill>
          <a:ln w="15875">
            <a:solidFill>
              <a:srgbClr val="F1CDB0"/>
            </a:solidFill>
            <a:prstDash val="solid"/>
          </a:ln>
        </p:spPr>
      </p:sp>
      <p:sp>
        <p:nvSpPr>
          <p:cNvPr id="17" name="Text 15"/>
          <p:cNvSpPr/>
          <p:nvPr/>
        </p:nvSpPr>
        <p:spPr>
          <a:xfrm>
            <a:off x="1280160" y="3429000"/>
            <a:ext cx="301752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車椅子</a:t>
            </a:r>
            <a:endParaRPr lang="en-US" sz="1500" dirty="0"/>
          </a:p>
        </p:txBody>
      </p:sp>
      <p:sp>
        <p:nvSpPr>
          <p:cNvPr id="18" name="Shape 16"/>
          <p:cNvSpPr/>
          <p:nvPr/>
        </p:nvSpPr>
        <p:spPr>
          <a:xfrm>
            <a:off x="1143000" y="3849624"/>
            <a:ext cx="3291840" cy="365760"/>
          </a:xfrm>
          <a:prstGeom prst="rect">
            <a:avLst/>
          </a:prstGeom>
          <a:solidFill>
            <a:srgbClr val="EDBC98"/>
          </a:solidFill>
          <a:ln w="15875">
            <a:solidFill>
              <a:srgbClr val="EDBC98"/>
            </a:solidFill>
            <a:prstDash val="solid"/>
          </a:ln>
        </p:spPr>
      </p:sp>
      <p:sp>
        <p:nvSpPr>
          <p:cNvPr id="19" name="Text 17"/>
          <p:cNvSpPr/>
          <p:nvPr/>
        </p:nvSpPr>
        <p:spPr>
          <a:xfrm>
            <a:off x="1280160" y="3849624"/>
            <a:ext cx="301752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寝たきり</a:t>
            </a:r>
            <a:endParaRPr lang="en-US" sz="1500" dirty="0"/>
          </a:p>
        </p:txBody>
      </p:sp>
      <p:sp>
        <p:nvSpPr>
          <p:cNvPr id="20" name="Shape 18"/>
          <p:cNvSpPr/>
          <p:nvPr/>
        </p:nvSpPr>
        <p:spPr>
          <a:xfrm>
            <a:off x="1143000" y="4270248"/>
            <a:ext cx="3291840" cy="365760"/>
          </a:xfrm>
          <a:prstGeom prst="rect">
            <a:avLst/>
          </a:prstGeom>
          <a:solidFill>
            <a:srgbClr val="E8A980"/>
          </a:solidFill>
          <a:ln w="15875">
            <a:solidFill>
              <a:srgbClr val="E8A980"/>
            </a:solidFill>
            <a:prstDash val="solid"/>
          </a:ln>
        </p:spPr>
      </p:sp>
      <p:sp>
        <p:nvSpPr>
          <p:cNvPr id="21" name="Text 19"/>
          <p:cNvSpPr/>
          <p:nvPr/>
        </p:nvSpPr>
        <p:spPr>
          <a:xfrm>
            <a:off x="1280160" y="4270248"/>
            <a:ext cx="301752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満足に意思疎通できない</a:t>
            </a:r>
            <a:endParaRPr lang="en-US" sz="1500" dirty="0"/>
          </a:p>
        </p:txBody>
      </p:sp>
      <p:sp>
        <p:nvSpPr>
          <p:cNvPr id="22" name="Shape 20"/>
          <p:cNvSpPr/>
          <p:nvPr/>
        </p:nvSpPr>
        <p:spPr>
          <a:xfrm>
            <a:off x="457200" y="1325880"/>
            <a:ext cx="457200" cy="3310128"/>
          </a:xfrm>
          <a:prstGeom prst="downArrow">
            <a:avLst/>
          </a:prstGeom>
          <a:solidFill>
            <a:srgbClr val="4F86B0"/>
          </a:solidFill>
          <a:ln w="12700">
            <a:solidFill>
              <a:srgbClr val="4F86B0"/>
            </a:solidFill>
            <a:prstDash val="solid"/>
          </a:ln>
        </p:spPr>
      </p:sp>
      <p:sp>
        <p:nvSpPr>
          <p:cNvPr id="23" name="Shape 21"/>
          <p:cNvSpPr/>
          <p:nvPr/>
        </p:nvSpPr>
        <p:spPr>
          <a:xfrm>
            <a:off x="1051560" y="3794760"/>
            <a:ext cx="3474720" cy="54864"/>
          </a:xfrm>
          <a:prstGeom prst="rect">
            <a:avLst/>
          </a:prstGeom>
          <a:solidFill>
            <a:srgbClr val="B23A2B"/>
          </a:solidFill>
          <a:ln w="12700">
            <a:solidFill>
              <a:srgbClr val="B23A2B"/>
            </a:solidFill>
            <a:prstDash val="solid"/>
          </a:ln>
        </p:spPr>
      </p:sp>
      <p:sp>
        <p:nvSpPr>
          <p:cNvPr id="24" name="Shape 22"/>
          <p:cNvSpPr/>
          <p:nvPr/>
        </p:nvSpPr>
        <p:spPr>
          <a:xfrm>
            <a:off x="4526280" y="3438144"/>
            <a:ext cx="1371600" cy="768096"/>
          </a:xfrm>
          <a:prstGeom prst="ellipse">
            <a:avLst/>
          </a:prstGeom>
          <a:solidFill>
            <a:srgbClr val="FFFFFF"/>
          </a:solidFill>
          <a:ln w="38100">
            <a:solidFill>
              <a:srgbClr val="B23A2B"/>
            </a:solidFill>
            <a:prstDash val="solid"/>
          </a:ln>
        </p:spPr>
      </p:sp>
      <p:sp>
        <p:nvSpPr>
          <p:cNvPr id="25" name="Text 23"/>
          <p:cNvSpPr/>
          <p:nvPr/>
        </p:nvSpPr>
        <p:spPr>
          <a:xfrm>
            <a:off x="4526280" y="3438144"/>
            <a:ext cx="1371600" cy="768096"/>
          </a:xfrm>
          <a:prstGeom prst="rect">
            <a:avLst/>
          </a:prstGeom>
          <a:noFill/>
          <a:ln/>
        </p:spPr>
        <p:txBody>
          <a:bodyPr wrap="square" lIns="0" tIns="0" rIns="0" bIns="0" rtlCol="0" anchor="ctr"/>
          <a:lstStyle/>
          <a:p>
            <a:pPr algn="ctr" indent="0" marL="0">
              <a:buNone/>
            </a:pPr>
            <a:r>
              <a:rPr lang="en-US" sz="1500" b="1" dirty="0">
                <a:solidFill>
                  <a:srgbClr val="B23A2B"/>
                </a:solidFill>
                <a:latin typeface="メイリオ" pitchFamily="34" charset="0"/>
                <a:ea typeface="メイリオ" pitchFamily="34" charset="-122"/>
                <a:cs typeface="メイリオ" pitchFamily="34" charset="-120"/>
              </a:rPr>
              <a:t>ゴールは</a:t>
            </a:r>
            <a:endParaRPr lang="en-US" sz="1500" dirty="0"/>
          </a:p>
          <a:p>
            <a:pPr algn="ctr" indent="0" marL="0">
              <a:buNone/>
            </a:pPr>
            <a:r>
              <a:rPr lang="en-US" sz="1500" b="1" dirty="0">
                <a:solidFill>
                  <a:srgbClr val="B23A2B"/>
                </a:solidFill>
                <a:latin typeface="メイリオ" pitchFamily="34" charset="0"/>
                <a:ea typeface="メイリオ" pitchFamily="34" charset="-122"/>
                <a:cs typeface="メイリオ" pitchFamily="34" charset="-120"/>
              </a:rPr>
              <a:t>ここ</a:t>
            </a:r>
            <a:endParaRPr lang="en-US" sz="1500" dirty="0"/>
          </a:p>
        </p:txBody>
      </p:sp>
      <p:sp>
        <p:nvSpPr>
          <p:cNvPr id="26" name="Shape 24"/>
          <p:cNvSpPr/>
          <p:nvPr/>
        </p:nvSpPr>
        <p:spPr>
          <a:xfrm>
            <a:off x="5897880" y="1325880"/>
            <a:ext cx="2788920" cy="3291840"/>
          </a:xfrm>
          <a:prstGeom prst="rect">
            <a:avLst/>
          </a:prstGeom>
          <a:solidFill>
            <a:srgbClr val="FBF0E4"/>
          </a:solidFill>
          <a:ln w="15875">
            <a:solidFill>
              <a:srgbClr val="C9661A"/>
            </a:solidFill>
            <a:prstDash val="solid"/>
          </a:ln>
        </p:spPr>
      </p:sp>
      <p:sp>
        <p:nvSpPr>
          <p:cNvPr id="27" name="Text 25"/>
          <p:cNvSpPr/>
          <p:nvPr/>
        </p:nvSpPr>
        <p:spPr>
          <a:xfrm>
            <a:off x="6035040" y="1417320"/>
            <a:ext cx="2514600" cy="3108960"/>
          </a:xfrm>
          <a:prstGeom prst="rect">
            <a:avLst/>
          </a:prstGeom>
          <a:noFill/>
          <a:ln/>
        </p:spPr>
        <p:txBody>
          <a:bodyPr wrap="square" lIns="0" tIns="0" rIns="0" bIns="0" rtlCol="0" anchor="ctr"/>
          <a:lstStyle/>
          <a:p>
            <a:pPr indent="0" marL="0">
              <a:lnSpc>
                <a:spcPct val="110000"/>
              </a:lnSpc>
              <a:buNone/>
            </a:pPr>
            <a:r>
              <a:rPr lang="en-US" sz="1600" b="1" dirty="0">
                <a:solidFill>
                  <a:srgbClr val="12324A"/>
                </a:solidFill>
                <a:latin typeface="メイリオ" pitchFamily="34" charset="0"/>
                <a:ea typeface="メイリオ" pitchFamily="34" charset="-122"/>
                <a:cs typeface="メイリオ" pitchFamily="34" charset="-120"/>
              </a:rPr>
              <a:t>ゴール＝
</a:t>
            </a:r>
            <a:pPr indent="0" marL="0">
              <a:lnSpc>
                <a:spcPct val="110000"/>
              </a:lnSpc>
              <a:buNone/>
            </a:pPr>
            <a:r>
              <a:rPr lang="en-US" sz="1500" dirty="0">
                <a:solidFill>
                  <a:srgbClr val="12324A"/>
                </a:solidFill>
                <a:latin typeface="メイリオ" pitchFamily="34" charset="0"/>
                <a:ea typeface="メイリオ" pitchFamily="34" charset="-122"/>
                <a:cs typeface="メイリオ" pitchFamily="34" charset="-120"/>
              </a:rPr>
              <a:t>本人が「この状態になったら生きている意味がない」と感じる</a:t>
            </a:r>
            <a:pPr indent="0" marL="0">
              <a:lnSpc>
                <a:spcPct val="110000"/>
              </a:lnSpc>
              <a:buNone/>
            </a:pPr>
            <a:r>
              <a:rPr lang="en-US" sz="1800" b="1" dirty="0">
                <a:solidFill>
                  <a:srgbClr val="C9661A"/>
                </a:solidFill>
                <a:latin typeface="メイリオ" pitchFamily="34" charset="0"/>
                <a:ea typeface="メイリオ" pitchFamily="34" charset="-122"/>
                <a:cs typeface="メイリオ" pitchFamily="34" charset="-120"/>
              </a:rPr>
              <a:t>下限ラインの位置</a:t>
            </a:r>
            <a:pPr indent="0" marL="0">
              <a:lnSpc>
                <a:spcPct val="110000"/>
              </a:lnSpc>
              <a:buNone/>
            </a:pPr>
            <a:r>
              <a:rPr lang="en-US" sz="1500" dirty="0">
                <a:solidFill>
                  <a:srgbClr val="12324A"/>
                </a:solidFill>
                <a:latin typeface="メイリオ" pitchFamily="34" charset="0"/>
                <a:ea typeface="メイリオ" pitchFamily="34" charset="-122"/>
                <a:cs typeface="メイリオ" pitchFamily="34" charset="-120"/>
              </a:rPr>
              <a:t>を特定すること
</a:t>
            </a:r>
            <a:pPr indent="0" marL="0">
              <a:lnSpc>
                <a:spcPct val="110000"/>
              </a:lnSpc>
              <a:buNone/>
            </a:pPr>
            <a:r>
              <a:rPr lang="en-US" sz="1500" b="1" dirty="0">
                <a:solidFill>
                  <a:srgbClr val="12324A"/>
                </a:solidFill>
                <a:latin typeface="メイリオ" pitchFamily="34" charset="0"/>
                <a:ea typeface="メイリオ" pitchFamily="34" charset="-122"/>
                <a:cs typeface="メイリオ" pitchFamily="34" charset="-120"/>
              </a:rPr>
              <a:t>図の線の位置は一例。</a:t>
            </a:r>
            <a:endParaRPr lang="en-US" sz="1800" dirty="0"/>
          </a:p>
          <a:p>
            <a:pPr indent="0" marL="0">
              <a:lnSpc>
                <a:spcPct val="110000"/>
              </a:lnSpc>
              <a:buNone/>
            </a:pPr>
            <a:r>
              <a:rPr lang="en-US" sz="1500" b="1" dirty="0">
                <a:solidFill>
                  <a:srgbClr val="12324A"/>
                </a:solidFill>
                <a:latin typeface="メイリオ" pitchFamily="34" charset="0"/>
                <a:ea typeface="メイリオ" pitchFamily="34" charset="-122"/>
                <a:cs typeface="メイリオ" pitchFamily="34" charset="-120"/>
              </a:rPr>
              <a:t>人によって大きく異なる</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12</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ラインの位置は、人によって大きく違う</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医療者の想定で決めず、本人の言葉で確定させる</a:t>
            </a:r>
            <a:endParaRPr lang="en-US" sz="1700" dirty="0"/>
          </a:p>
        </p:txBody>
      </p:sp>
      <p:sp>
        <p:nvSpPr>
          <p:cNvPr id="6" name="Shape 4"/>
          <p:cNvSpPr/>
          <p:nvPr/>
        </p:nvSpPr>
        <p:spPr>
          <a:xfrm>
            <a:off x="457200" y="1325880"/>
            <a:ext cx="3017520" cy="365760"/>
          </a:xfrm>
          <a:prstGeom prst="rect">
            <a:avLst/>
          </a:prstGeom>
          <a:solidFill>
            <a:srgbClr val="D6E8F4"/>
          </a:solidFill>
          <a:ln w="15875">
            <a:solidFill>
              <a:srgbClr val="D6E8F4"/>
            </a:solidFill>
            <a:prstDash val="solid"/>
          </a:ln>
        </p:spPr>
      </p:sp>
      <p:sp>
        <p:nvSpPr>
          <p:cNvPr id="7" name="Text 5"/>
          <p:cNvSpPr/>
          <p:nvPr/>
        </p:nvSpPr>
        <p:spPr>
          <a:xfrm>
            <a:off x="594360" y="1325880"/>
            <a:ext cx="274320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プロスポーツ選手・医師</a:t>
            </a:r>
            <a:endParaRPr lang="en-US" sz="1500" dirty="0"/>
          </a:p>
        </p:txBody>
      </p:sp>
      <p:sp>
        <p:nvSpPr>
          <p:cNvPr id="8" name="Shape 6"/>
          <p:cNvSpPr/>
          <p:nvPr/>
        </p:nvSpPr>
        <p:spPr>
          <a:xfrm>
            <a:off x="457200" y="1746504"/>
            <a:ext cx="3017520" cy="365760"/>
          </a:xfrm>
          <a:prstGeom prst="rect">
            <a:avLst/>
          </a:prstGeom>
          <a:solidFill>
            <a:srgbClr val="C6DFEF"/>
          </a:solidFill>
          <a:ln w="15875">
            <a:solidFill>
              <a:srgbClr val="C6DFEF"/>
            </a:solidFill>
            <a:prstDash val="solid"/>
          </a:ln>
        </p:spPr>
      </p:sp>
      <p:sp>
        <p:nvSpPr>
          <p:cNvPr id="9" name="Text 7"/>
          <p:cNvSpPr/>
          <p:nvPr/>
        </p:nvSpPr>
        <p:spPr>
          <a:xfrm>
            <a:off x="594360" y="1746504"/>
            <a:ext cx="274320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海外旅行</a:t>
            </a:r>
            <a:endParaRPr lang="en-US" sz="1500" dirty="0"/>
          </a:p>
        </p:txBody>
      </p:sp>
      <p:sp>
        <p:nvSpPr>
          <p:cNvPr id="10" name="Shape 8"/>
          <p:cNvSpPr/>
          <p:nvPr/>
        </p:nvSpPr>
        <p:spPr>
          <a:xfrm>
            <a:off x="457200" y="2167128"/>
            <a:ext cx="3017520" cy="365760"/>
          </a:xfrm>
          <a:prstGeom prst="rect">
            <a:avLst/>
          </a:prstGeom>
          <a:solidFill>
            <a:srgbClr val="B6D5EA"/>
          </a:solidFill>
          <a:ln w="15875">
            <a:solidFill>
              <a:srgbClr val="B6D5EA"/>
            </a:solidFill>
            <a:prstDash val="solid"/>
          </a:ln>
        </p:spPr>
      </p:sp>
      <p:sp>
        <p:nvSpPr>
          <p:cNvPr id="11" name="Text 9"/>
          <p:cNvSpPr/>
          <p:nvPr/>
        </p:nvSpPr>
        <p:spPr>
          <a:xfrm>
            <a:off x="594360" y="2167128"/>
            <a:ext cx="274320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恋人を作る</a:t>
            </a:r>
            <a:endParaRPr lang="en-US" sz="1500" dirty="0"/>
          </a:p>
        </p:txBody>
      </p:sp>
      <p:sp>
        <p:nvSpPr>
          <p:cNvPr id="12" name="Shape 10"/>
          <p:cNvSpPr/>
          <p:nvPr/>
        </p:nvSpPr>
        <p:spPr>
          <a:xfrm>
            <a:off x="457200" y="2587752"/>
            <a:ext cx="3017520" cy="365760"/>
          </a:xfrm>
          <a:prstGeom prst="rect">
            <a:avLst/>
          </a:prstGeom>
          <a:solidFill>
            <a:srgbClr val="A5CBE4"/>
          </a:solidFill>
          <a:ln w="15875">
            <a:solidFill>
              <a:srgbClr val="A5CBE4"/>
            </a:solidFill>
            <a:prstDash val="solid"/>
          </a:ln>
        </p:spPr>
      </p:sp>
      <p:sp>
        <p:nvSpPr>
          <p:cNvPr id="13" name="Text 11"/>
          <p:cNvSpPr/>
          <p:nvPr/>
        </p:nvSpPr>
        <p:spPr>
          <a:xfrm>
            <a:off x="594360" y="2587752"/>
            <a:ext cx="274320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ゲーム・漫画・テレビ</a:t>
            </a:r>
            <a:endParaRPr lang="en-US" sz="1500" dirty="0"/>
          </a:p>
        </p:txBody>
      </p:sp>
      <p:sp>
        <p:nvSpPr>
          <p:cNvPr id="14" name="Shape 12"/>
          <p:cNvSpPr/>
          <p:nvPr/>
        </p:nvSpPr>
        <p:spPr>
          <a:xfrm>
            <a:off x="457200" y="3008376"/>
            <a:ext cx="3017520" cy="365760"/>
          </a:xfrm>
          <a:prstGeom prst="rect">
            <a:avLst/>
          </a:prstGeom>
          <a:solidFill>
            <a:srgbClr val="F5DEC9"/>
          </a:solidFill>
          <a:ln w="15875">
            <a:solidFill>
              <a:srgbClr val="F5DEC9"/>
            </a:solidFill>
            <a:prstDash val="solid"/>
          </a:ln>
        </p:spPr>
      </p:sp>
      <p:sp>
        <p:nvSpPr>
          <p:cNvPr id="15" name="Text 13"/>
          <p:cNvSpPr/>
          <p:nvPr/>
        </p:nvSpPr>
        <p:spPr>
          <a:xfrm>
            <a:off x="594360" y="3008376"/>
            <a:ext cx="274320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入退院を繰り返す</a:t>
            </a:r>
            <a:endParaRPr lang="en-US" sz="1500" dirty="0"/>
          </a:p>
        </p:txBody>
      </p:sp>
      <p:sp>
        <p:nvSpPr>
          <p:cNvPr id="16" name="Shape 14"/>
          <p:cNvSpPr/>
          <p:nvPr/>
        </p:nvSpPr>
        <p:spPr>
          <a:xfrm>
            <a:off x="457200" y="3429000"/>
            <a:ext cx="3017520" cy="365760"/>
          </a:xfrm>
          <a:prstGeom prst="rect">
            <a:avLst/>
          </a:prstGeom>
          <a:solidFill>
            <a:srgbClr val="F1CDB0"/>
          </a:solidFill>
          <a:ln w="15875">
            <a:solidFill>
              <a:srgbClr val="F1CDB0"/>
            </a:solidFill>
            <a:prstDash val="solid"/>
          </a:ln>
        </p:spPr>
      </p:sp>
      <p:sp>
        <p:nvSpPr>
          <p:cNvPr id="17" name="Text 15"/>
          <p:cNvSpPr/>
          <p:nvPr/>
        </p:nvSpPr>
        <p:spPr>
          <a:xfrm>
            <a:off x="594360" y="3429000"/>
            <a:ext cx="274320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車椅子</a:t>
            </a:r>
            <a:endParaRPr lang="en-US" sz="1500" dirty="0"/>
          </a:p>
        </p:txBody>
      </p:sp>
      <p:sp>
        <p:nvSpPr>
          <p:cNvPr id="18" name="Shape 16"/>
          <p:cNvSpPr/>
          <p:nvPr/>
        </p:nvSpPr>
        <p:spPr>
          <a:xfrm>
            <a:off x="457200" y="3849624"/>
            <a:ext cx="3017520" cy="365760"/>
          </a:xfrm>
          <a:prstGeom prst="rect">
            <a:avLst/>
          </a:prstGeom>
          <a:solidFill>
            <a:srgbClr val="EDBC98"/>
          </a:solidFill>
          <a:ln w="15875">
            <a:solidFill>
              <a:srgbClr val="EDBC98"/>
            </a:solidFill>
            <a:prstDash val="solid"/>
          </a:ln>
        </p:spPr>
      </p:sp>
      <p:sp>
        <p:nvSpPr>
          <p:cNvPr id="19" name="Text 17"/>
          <p:cNvSpPr/>
          <p:nvPr/>
        </p:nvSpPr>
        <p:spPr>
          <a:xfrm>
            <a:off x="594360" y="3849624"/>
            <a:ext cx="274320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寝たきり</a:t>
            </a:r>
            <a:endParaRPr lang="en-US" sz="1500" dirty="0"/>
          </a:p>
        </p:txBody>
      </p:sp>
      <p:sp>
        <p:nvSpPr>
          <p:cNvPr id="20" name="Shape 18"/>
          <p:cNvSpPr/>
          <p:nvPr/>
        </p:nvSpPr>
        <p:spPr>
          <a:xfrm>
            <a:off x="457200" y="4270248"/>
            <a:ext cx="3017520" cy="365760"/>
          </a:xfrm>
          <a:prstGeom prst="rect">
            <a:avLst/>
          </a:prstGeom>
          <a:solidFill>
            <a:srgbClr val="E8A980"/>
          </a:solidFill>
          <a:ln w="15875">
            <a:solidFill>
              <a:srgbClr val="E8A980"/>
            </a:solidFill>
            <a:prstDash val="solid"/>
          </a:ln>
        </p:spPr>
      </p:sp>
      <p:sp>
        <p:nvSpPr>
          <p:cNvPr id="21" name="Text 19"/>
          <p:cNvSpPr/>
          <p:nvPr/>
        </p:nvSpPr>
        <p:spPr>
          <a:xfrm>
            <a:off x="594360" y="4270248"/>
            <a:ext cx="2743200" cy="36576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満足に意思疎通できない</a:t>
            </a:r>
            <a:endParaRPr lang="en-US" sz="1500" dirty="0"/>
          </a:p>
        </p:txBody>
      </p:sp>
      <p:sp>
        <p:nvSpPr>
          <p:cNvPr id="22" name="Shape 20"/>
          <p:cNvSpPr/>
          <p:nvPr/>
        </p:nvSpPr>
        <p:spPr>
          <a:xfrm>
            <a:off x="411480" y="3378708"/>
            <a:ext cx="3246120" cy="45720"/>
          </a:xfrm>
          <a:prstGeom prst="rect">
            <a:avLst/>
          </a:prstGeom>
          <a:solidFill>
            <a:srgbClr val="B23A2B"/>
          </a:solidFill>
          <a:ln w="12700">
            <a:solidFill>
              <a:srgbClr val="B23A2B"/>
            </a:solidFill>
            <a:prstDash val="solid"/>
          </a:ln>
        </p:spPr>
      </p:sp>
      <p:sp>
        <p:nvSpPr>
          <p:cNvPr id="23" name="Text 21"/>
          <p:cNvSpPr/>
          <p:nvPr/>
        </p:nvSpPr>
        <p:spPr>
          <a:xfrm>
            <a:off x="3703320" y="3246120"/>
            <a:ext cx="731520" cy="310896"/>
          </a:xfrm>
          <a:prstGeom prst="rect">
            <a:avLst/>
          </a:prstGeom>
          <a:noFill/>
          <a:ln/>
        </p:spPr>
        <p:txBody>
          <a:bodyPr wrap="square" lIns="0" tIns="0" rIns="0" bIns="0" rtlCol="0" anchor="ctr"/>
          <a:lstStyle/>
          <a:p>
            <a:pPr indent="0" marL="0">
              <a:buNone/>
            </a:pPr>
            <a:r>
              <a:rPr lang="en-US" sz="1400" b="1" dirty="0">
                <a:solidFill>
                  <a:srgbClr val="B23A2B"/>
                </a:solidFill>
                <a:latin typeface="メイリオ" pitchFamily="34" charset="0"/>
                <a:ea typeface="メイリオ" pitchFamily="34" charset="-122"/>
                <a:cs typeface="メイリオ" pitchFamily="34" charset="-120"/>
              </a:rPr>
              <a:t>Aさん</a:t>
            </a:r>
            <a:endParaRPr lang="en-US" sz="1400" dirty="0"/>
          </a:p>
        </p:txBody>
      </p:sp>
      <p:sp>
        <p:nvSpPr>
          <p:cNvPr id="24" name="Shape 22"/>
          <p:cNvSpPr/>
          <p:nvPr/>
        </p:nvSpPr>
        <p:spPr>
          <a:xfrm>
            <a:off x="411480" y="2958084"/>
            <a:ext cx="3246120" cy="45720"/>
          </a:xfrm>
          <a:prstGeom prst="rect">
            <a:avLst/>
          </a:prstGeom>
          <a:solidFill>
            <a:srgbClr val="B23A2B"/>
          </a:solidFill>
          <a:ln w="12700">
            <a:solidFill>
              <a:srgbClr val="B23A2B"/>
            </a:solidFill>
            <a:prstDash val="solid"/>
          </a:ln>
        </p:spPr>
      </p:sp>
      <p:sp>
        <p:nvSpPr>
          <p:cNvPr id="25" name="Text 23"/>
          <p:cNvSpPr/>
          <p:nvPr/>
        </p:nvSpPr>
        <p:spPr>
          <a:xfrm>
            <a:off x="3703320" y="2825496"/>
            <a:ext cx="731520" cy="310896"/>
          </a:xfrm>
          <a:prstGeom prst="rect">
            <a:avLst/>
          </a:prstGeom>
          <a:noFill/>
          <a:ln/>
        </p:spPr>
        <p:txBody>
          <a:bodyPr wrap="square" lIns="0" tIns="0" rIns="0" bIns="0" rtlCol="0" anchor="ctr"/>
          <a:lstStyle/>
          <a:p>
            <a:pPr indent="0" marL="0">
              <a:buNone/>
            </a:pPr>
            <a:r>
              <a:rPr lang="en-US" sz="1400" b="1" dirty="0">
                <a:solidFill>
                  <a:srgbClr val="B23A2B"/>
                </a:solidFill>
                <a:latin typeface="メイリオ" pitchFamily="34" charset="0"/>
                <a:ea typeface="メイリオ" pitchFamily="34" charset="-122"/>
                <a:cs typeface="メイリオ" pitchFamily="34" charset="-120"/>
              </a:rPr>
              <a:t>Cさん</a:t>
            </a:r>
            <a:endParaRPr lang="en-US" sz="1400" dirty="0"/>
          </a:p>
        </p:txBody>
      </p:sp>
      <p:sp>
        <p:nvSpPr>
          <p:cNvPr id="26" name="Shape 24"/>
          <p:cNvSpPr/>
          <p:nvPr/>
        </p:nvSpPr>
        <p:spPr>
          <a:xfrm>
            <a:off x="411480" y="4219956"/>
            <a:ext cx="3246120" cy="45720"/>
          </a:xfrm>
          <a:prstGeom prst="rect">
            <a:avLst/>
          </a:prstGeom>
          <a:solidFill>
            <a:srgbClr val="B23A2B"/>
          </a:solidFill>
          <a:ln w="12700">
            <a:solidFill>
              <a:srgbClr val="B23A2B"/>
            </a:solidFill>
            <a:prstDash val="solid"/>
          </a:ln>
        </p:spPr>
      </p:sp>
      <p:sp>
        <p:nvSpPr>
          <p:cNvPr id="27" name="Text 25"/>
          <p:cNvSpPr/>
          <p:nvPr/>
        </p:nvSpPr>
        <p:spPr>
          <a:xfrm>
            <a:off x="3703320" y="4087368"/>
            <a:ext cx="731520" cy="310896"/>
          </a:xfrm>
          <a:prstGeom prst="rect">
            <a:avLst/>
          </a:prstGeom>
          <a:noFill/>
          <a:ln/>
        </p:spPr>
        <p:txBody>
          <a:bodyPr wrap="square" lIns="0" tIns="0" rIns="0" bIns="0" rtlCol="0" anchor="ctr"/>
          <a:lstStyle/>
          <a:p>
            <a:pPr indent="0" marL="0">
              <a:buNone/>
            </a:pPr>
            <a:r>
              <a:rPr lang="en-US" sz="1400" b="1" dirty="0">
                <a:solidFill>
                  <a:srgbClr val="B23A2B"/>
                </a:solidFill>
                <a:latin typeface="メイリオ" pitchFamily="34" charset="0"/>
                <a:ea typeface="メイリオ" pitchFamily="34" charset="-122"/>
                <a:cs typeface="メイリオ" pitchFamily="34" charset="-120"/>
              </a:rPr>
              <a:t>Bさん</a:t>
            </a:r>
            <a:endParaRPr lang="en-US" sz="1400" dirty="0"/>
          </a:p>
        </p:txBody>
      </p:sp>
      <p:sp>
        <p:nvSpPr>
          <p:cNvPr id="28" name="Shape 26"/>
          <p:cNvSpPr/>
          <p:nvPr/>
        </p:nvSpPr>
        <p:spPr>
          <a:xfrm>
            <a:off x="4526280" y="1325880"/>
            <a:ext cx="4160520" cy="868680"/>
          </a:xfrm>
          <a:prstGeom prst="rect">
            <a:avLst/>
          </a:prstGeom>
          <a:solidFill>
            <a:srgbClr val="EAF2F7"/>
          </a:solidFill>
          <a:ln w="15875">
            <a:solidFill>
              <a:srgbClr val="EAF2F7"/>
            </a:solidFill>
            <a:prstDash val="solid"/>
          </a:ln>
        </p:spPr>
      </p:sp>
      <p:sp>
        <p:nvSpPr>
          <p:cNvPr id="29" name="Text 27"/>
          <p:cNvSpPr/>
          <p:nvPr/>
        </p:nvSpPr>
        <p:spPr>
          <a:xfrm>
            <a:off x="4663440" y="1325880"/>
            <a:ext cx="3931920" cy="868680"/>
          </a:xfrm>
          <a:prstGeom prst="rect">
            <a:avLst/>
          </a:prstGeom>
          <a:noFill/>
          <a:ln/>
        </p:spPr>
        <p:txBody>
          <a:bodyPr wrap="square" lIns="0" tIns="0" rIns="0" bIns="0" rtlCol="0" anchor="ctr"/>
          <a:lstStyle/>
          <a:p>
            <a:pPr indent="0" marL="0">
              <a:buNone/>
            </a:pPr>
            <a:r>
              <a:rPr lang="en-US" sz="1500" b="1" dirty="0">
                <a:solidFill>
                  <a:srgbClr val="B23A2B"/>
                </a:solidFill>
                <a:latin typeface="メイリオ" pitchFamily="34" charset="0"/>
                <a:ea typeface="メイリオ" pitchFamily="34" charset="-122"/>
                <a:cs typeface="メイリオ" pitchFamily="34" charset="-120"/>
              </a:rPr>
              <a:t>Aさん
</a:t>
            </a:r>
            <a:pPr indent="0" marL="0">
              <a:buNone/>
            </a:pPr>
            <a:r>
              <a:rPr lang="en-US" sz="1500" dirty="0">
                <a:solidFill>
                  <a:srgbClr val="12324A"/>
                </a:solidFill>
                <a:latin typeface="メイリオ" pitchFamily="34" charset="0"/>
                <a:ea typeface="メイリオ" pitchFamily="34" charset="-122"/>
                <a:cs typeface="メイリオ" pitchFamily="34" charset="-120"/>
              </a:rPr>
              <a:t>「自分の足で現場を見に行けなくなったら、もういい（元大工）」</a:t>
            </a:r>
            <a:endParaRPr lang="en-US" sz="1800" dirty="0"/>
          </a:p>
        </p:txBody>
      </p:sp>
      <p:sp>
        <p:nvSpPr>
          <p:cNvPr id="30" name="Shape 28"/>
          <p:cNvSpPr/>
          <p:nvPr/>
        </p:nvSpPr>
        <p:spPr>
          <a:xfrm>
            <a:off x="4526280" y="2286000"/>
            <a:ext cx="4160520" cy="868680"/>
          </a:xfrm>
          <a:prstGeom prst="rect">
            <a:avLst/>
          </a:prstGeom>
          <a:solidFill>
            <a:srgbClr val="EAF2F7"/>
          </a:solidFill>
          <a:ln w="15875">
            <a:solidFill>
              <a:srgbClr val="EAF2F7"/>
            </a:solidFill>
            <a:prstDash val="solid"/>
          </a:ln>
        </p:spPr>
      </p:sp>
      <p:sp>
        <p:nvSpPr>
          <p:cNvPr id="31" name="Text 29"/>
          <p:cNvSpPr/>
          <p:nvPr/>
        </p:nvSpPr>
        <p:spPr>
          <a:xfrm>
            <a:off x="4663440" y="2286000"/>
            <a:ext cx="3931920" cy="868680"/>
          </a:xfrm>
          <a:prstGeom prst="rect">
            <a:avLst/>
          </a:prstGeom>
          <a:noFill/>
          <a:ln/>
        </p:spPr>
        <p:txBody>
          <a:bodyPr wrap="square" lIns="0" tIns="0" rIns="0" bIns="0" rtlCol="0" anchor="ctr"/>
          <a:lstStyle/>
          <a:p>
            <a:pPr indent="0" marL="0">
              <a:buNone/>
            </a:pPr>
            <a:r>
              <a:rPr lang="en-US" sz="1500" b="1" dirty="0">
                <a:solidFill>
                  <a:srgbClr val="B23A2B"/>
                </a:solidFill>
                <a:latin typeface="メイリオ" pitchFamily="34" charset="0"/>
                <a:ea typeface="メイリオ" pitchFamily="34" charset="-122"/>
                <a:cs typeface="メイリオ" pitchFamily="34" charset="-120"/>
              </a:rPr>
              <a:t>Cさん
</a:t>
            </a:r>
            <a:pPr indent="0" marL="0">
              <a:buNone/>
            </a:pPr>
            <a:r>
              <a:rPr lang="en-US" sz="1500" dirty="0">
                <a:solidFill>
                  <a:srgbClr val="12324A"/>
                </a:solidFill>
                <a:latin typeface="メイリオ" pitchFamily="34" charset="0"/>
                <a:ea typeface="メイリオ" pitchFamily="34" charset="-122"/>
                <a:cs typeface="メイリオ" pitchFamily="34" charset="-120"/>
              </a:rPr>
              <a:t>「家で過ごせるなら。入退院の繰り返しが一番つらい」</a:t>
            </a:r>
            <a:endParaRPr lang="en-US" sz="1800" dirty="0"/>
          </a:p>
        </p:txBody>
      </p:sp>
      <p:sp>
        <p:nvSpPr>
          <p:cNvPr id="32" name="Shape 30"/>
          <p:cNvSpPr/>
          <p:nvPr/>
        </p:nvSpPr>
        <p:spPr>
          <a:xfrm>
            <a:off x="4526280" y="3246120"/>
            <a:ext cx="4160520" cy="868680"/>
          </a:xfrm>
          <a:prstGeom prst="rect">
            <a:avLst/>
          </a:prstGeom>
          <a:solidFill>
            <a:srgbClr val="EAF2F7"/>
          </a:solidFill>
          <a:ln w="15875">
            <a:solidFill>
              <a:srgbClr val="EAF2F7"/>
            </a:solidFill>
            <a:prstDash val="solid"/>
          </a:ln>
        </p:spPr>
      </p:sp>
      <p:sp>
        <p:nvSpPr>
          <p:cNvPr id="33" name="Text 31"/>
          <p:cNvSpPr/>
          <p:nvPr/>
        </p:nvSpPr>
        <p:spPr>
          <a:xfrm>
            <a:off x="4663440" y="3246120"/>
            <a:ext cx="3931920" cy="868680"/>
          </a:xfrm>
          <a:prstGeom prst="rect">
            <a:avLst/>
          </a:prstGeom>
          <a:noFill/>
          <a:ln/>
        </p:spPr>
        <p:txBody>
          <a:bodyPr wrap="square" lIns="0" tIns="0" rIns="0" bIns="0" rtlCol="0" anchor="ctr"/>
          <a:lstStyle/>
          <a:p>
            <a:pPr indent="0" marL="0">
              <a:buNone/>
            </a:pPr>
            <a:r>
              <a:rPr lang="en-US" sz="1500" b="1" dirty="0">
                <a:solidFill>
                  <a:srgbClr val="B23A2B"/>
                </a:solidFill>
                <a:latin typeface="メイリオ" pitchFamily="34" charset="0"/>
                <a:ea typeface="メイリオ" pitchFamily="34" charset="-122"/>
                <a:cs typeface="メイリオ" pitchFamily="34" charset="-120"/>
              </a:rPr>
              <a:t>Bさん
</a:t>
            </a:r>
            <a:pPr indent="0" marL="0">
              <a:buNone/>
            </a:pPr>
            <a:r>
              <a:rPr lang="en-US" sz="1500" dirty="0">
                <a:solidFill>
                  <a:srgbClr val="12324A"/>
                </a:solidFill>
                <a:latin typeface="メイリオ" pitchFamily="34" charset="0"/>
                <a:ea typeface="メイリオ" pitchFamily="34" charset="-122"/>
                <a:cs typeface="メイリオ" pitchFamily="34" charset="-120"/>
              </a:rPr>
              <a:t>「孫と話ができるなら、寝たきりでもいい」</a:t>
            </a:r>
            <a:endParaRPr lang="en-US" sz="1800" dirty="0"/>
          </a:p>
        </p:txBody>
      </p:sp>
      <p:sp>
        <p:nvSpPr>
          <p:cNvPr id="34" name="Text 32"/>
          <p:cNvSpPr/>
          <p:nvPr/>
        </p:nvSpPr>
        <p:spPr>
          <a:xfrm>
            <a:off x="4526280" y="4224528"/>
            <a:ext cx="4160520" cy="502920"/>
          </a:xfrm>
          <a:prstGeom prst="rect">
            <a:avLst/>
          </a:prstGeom>
          <a:noFill/>
          <a:ln/>
        </p:spPr>
        <p:txBody>
          <a:bodyPr wrap="square" lIns="0" tIns="0" rIns="0" bIns="0" rtlCol="0" anchor="ctr"/>
          <a:lstStyle/>
          <a:p>
            <a:pPr indent="0" marL="0">
              <a:buNone/>
            </a:pPr>
            <a:r>
              <a:rPr lang="en-US" sz="1300" dirty="0">
                <a:solidFill>
                  <a:srgbClr val="12324A"/>
                </a:solidFill>
                <a:latin typeface="メイリオ" pitchFamily="34" charset="0"/>
                <a:ea typeface="メイリオ" pitchFamily="34" charset="-122"/>
                <a:cs typeface="メイリオ" pitchFamily="34" charset="-120"/>
              </a:rPr>
              <a:t>確定したら要約して返し、本人に確認する</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13</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心不全での臨床的な意味</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「まだライン上か、近づいているか」を判断の基準にする</a:t>
            </a:r>
            <a:endParaRPr lang="en-US" sz="1700" dirty="0"/>
          </a:p>
        </p:txBody>
      </p:sp>
      <p:sp>
        <p:nvSpPr>
          <p:cNvPr id="6" name="Shape 4"/>
          <p:cNvSpPr/>
          <p:nvPr/>
        </p:nvSpPr>
        <p:spPr>
          <a:xfrm>
            <a:off x="457200" y="1371600"/>
            <a:ext cx="2377440" cy="603504"/>
          </a:xfrm>
          <a:prstGeom prst="rect">
            <a:avLst/>
          </a:prstGeom>
          <a:solidFill>
            <a:srgbClr val="1E4A6E"/>
          </a:solidFill>
          <a:ln w="15875">
            <a:solidFill>
              <a:srgbClr val="1E4A6E"/>
            </a:solidFill>
            <a:prstDash val="solid"/>
          </a:ln>
        </p:spPr>
      </p:sp>
      <p:sp>
        <p:nvSpPr>
          <p:cNvPr id="7" name="Text 5"/>
          <p:cNvSpPr/>
          <p:nvPr/>
        </p:nvSpPr>
        <p:spPr>
          <a:xfrm>
            <a:off x="457200" y="1371600"/>
            <a:ext cx="2377440" cy="603504"/>
          </a:xfrm>
          <a:prstGeom prst="rect">
            <a:avLst/>
          </a:prstGeom>
          <a:noFill/>
          <a:ln/>
        </p:spPr>
        <p:txBody>
          <a:bodyPr wrap="square" lIns="0" tIns="0" rIns="0" bIns="0" rtlCol="0" anchor="ctr"/>
          <a:lstStyle/>
          <a:p>
            <a:pPr algn="ctr" indent="0" marL="0">
              <a:buNone/>
            </a:pPr>
            <a:r>
              <a:rPr lang="en-US" sz="1700" b="1" dirty="0">
                <a:solidFill>
                  <a:srgbClr val="FFFFFF"/>
                </a:solidFill>
                <a:latin typeface="メイリオ" pitchFamily="34" charset="0"/>
                <a:ea typeface="メイリオ" pitchFamily="34" charset="-122"/>
                <a:cs typeface="メイリオ" pitchFamily="34" charset="-120"/>
              </a:rPr>
              <a:t>ICU入室・挿管</a:t>
            </a:r>
            <a:endParaRPr lang="en-US" sz="1700" dirty="0"/>
          </a:p>
        </p:txBody>
      </p:sp>
      <p:sp>
        <p:nvSpPr>
          <p:cNvPr id="8" name="Shape 6"/>
          <p:cNvSpPr/>
          <p:nvPr/>
        </p:nvSpPr>
        <p:spPr>
          <a:xfrm>
            <a:off x="2834640" y="1371600"/>
            <a:ext cx="5852160" cy="603504"/>
          </a:xfrm>
          <a:prstGeom prst="rect">
            <a:avLst/>
          </a:prstGeom>
          <a:solidFill>
            <a:srgbClr val="EAF2F7"/>
          </a:solidFill>
          <a:ln w="15875">
            <a:solidFill>
              <a:srgbClr val="EAF2F7"/>
            </a:solidFill>
            <a:prstDash val="solid"/>
          </a:ln>
        </p:spPr>
      </p:sp>
      <p:sp>
        <p:nvSpPr>
          <p:cNvPr id="9" name="Text 7"/>
          <p:cNvSpPr/>
          <p:nvPr/>
        </p:nvSpPr>
        <p:spPr>
          <a:xfrm>
            <a:off x="3017520" y="1371600"/>
            <a:ext cx="5577840" cy="603504"/>
          </a:xfrm>
          <a:prstGeom prst="rect">
            <a:avLst/>
          </a:prstGeom>
          <a:noFill/>
          <a:ln/>
        </p:spPr>
        <p:txBody>
          <a:bodyPr wrap="square" lIns="0" tIns="0" rIns="0" bIns="0" rtlCol="0" anchor="ctr"/>
          <a:lstStyle/>
          <a:p>
            <a:pPr indent="0" marL="0">
              <a:buNone/>
            </a:pPr>
            <a:r>
              <a:rPr lang="en-US" sz="1600" dirty="0">
                <a:solidFill>
                  <a:srgbClr val="12324A"/>
                </a:solidFill>
                <a:latin typeface="メイリオ" pitchFamily="34" charset="0"/>
                <a:ea typeface="メイリオ" pitchFamily="34" charset="-122"/>
                <a:cs typeface="メイリオ" pitchFamily="34" charset="-120"/>
              </a:rPr>
              <a:t>回復後に見込まれる状態は、本人のラインより上か</a:t>
            </a:r>
            <a:endParaRPr lang="en-US" sz="1600" dirty="0"/>
          </a:p>
        </p:txBody>
      </p:sp>
      <p:sp>
        <p:nvSpPr>
          <p:cNvPr id="10" name="Shape 8"/>
          <p:cNvSpPr/>
          <p:nvPr/>
        </p:nvSpPr>
        <p:spPr>
          <a:xfrm>
            <a:off x="457200" y="2084832"/>
            <a:ext cx="2377440" cy="603504"/>
          </a:xfrm>
          <a:prstGeom prst="rect">
            <a:avLst/>
          </a:prstGeom>
          <a:solidFill>
            <a:srgbClr val="1E4A6E"/>
          </a:solidFill>
          <a:ln w="15875">
            <a:solidFill>
              <a:srgbClr val="1E4A6E"/>
            </a:solidFill>
            <a:prstDash val="solid"/>
          </a:ln>
        </p:spPr>
      </p:sp>
      <p:sp>
        <p:nvSpPr>
          <p:cNvPr id="11" name="Text 9"/>
          <p:cNvSpPr/>
          <p:nvPr/>
        </p:nvSpPr>
        <p:spPr>
          <a:xfrm>
            <a:off x="457200" y="2084832"/>
            <a:ext cx="2377440" cy="603504"/>
          </a:xfrm>
          <a:prstGeom prst="rect">
            <a:avLst/>
          </a:prstGeom>
          <a:noFill/>
          <a:ln/>
        </p:spPr>
        <p:txBody>
          <a:bodyPr wrap="square" lIns="0" tIns="0" rIns="0" bIns="0" rtlCol="0" anchor="ctr"/>
          <a:lstStyle/>
          <a:p>
            <a:pPr algn="ctr" indent="0" marL="0">
              <a:buNone/>
            </a:pPr>
            <a:r>
              <a:rPr lang="en-US" sz="1700" b="1" dirty="0">
                <a:solidFill>
                  <a:srgbClr val="FFFFFF"/>
                </a:solidFill>
                <a:latin typeface="メイリオ" pitchFamily="34" charset="0"/>
                <a:ea typeface="メイリオ" pitchFamily="34" charset="-122"/>
                <a:cs typeface="メイリオ" pitchFamily="34" charset="-120"/>
              </a:rPr>
              <a:t>補助循環・LVAD</a:t>
            </a:r>
            <a:endParaRPr lang="en-US" sz="1700" dirty="0"/>
          </a:p>
        </p:txBody>
      </p:sp>
      <p:sp>
        <p:nvSpPr>
          <p:cNvPr id="12" name="Shape 10"/>
          <p:cNvSpPr/>
          <p:nvPr/>
        </p:nvSpPr>
        <p:spPr>
          <a:xfrm>
            <a:off x="2834640" y="2084832"/>
            <a:ext cx="5852160" cy="603504"/>
          </a:xfrm>
          <a:prstGeom prst="rect">
            <a:avLst/>
          </a:prstGeom>
          <a:solidFill>
            <a:srgbClr val="EAF2F7"/>
          </a:solidFill>
          <a:ln w="15875">
            <a:solidFill>
              <a:srgbClr val="EAF2F7"/>
            </a:solidFill>
            <a:prstDash val="solid"/>
          </a:ln>
        </p:spPr>
      </p:sp>
      <p:sp>
        <p:nvSpPr>
          <p:cNvPr id="13" name="Text 11"/>
          <p:cNvSpPr/>
          <p:nvPr/>
        </p:nvSpPr>
        <p:spPr>
          <a:xfrm>
            <a:off x="3017520" y="2084832"/>
            <a:ext cx="5577840" cy="603504"/>
          </a:xfrm>
          <a:prstGeom prst="rect">
            <a:avLst/>
          </a:prstGeom>
          <a:noFill/>
          <a:ln/>
        </p:spPr>
        <p:txBody>
          <a:bodyPr wrap="square" lIns="0" tIns="0" rIns="0" bIns="0" rtlCol="0" anchor="ctr"/>
          <a:lstStyle/>
          <a:p>
            <a:pPr indent="0" marL="0">
              <a:buNone/>
            </a:pPr>
            <a:r>
              <a:rPr lang="en-US" sz="1600" dirty="0">
                <a:solidFill>
                  <a:srgbClr val="12324A"/>
                </a:solidFill>
                <a:latin typeface="メイリオ" pitchFamily="34" charset="0"/>
                <a:ea typeface="メイリオ" pitchFamily="34" charset="-122"/>
                <a:cs typeface="メイリオ" pitchFamily="34" charset="-120"/>
              </a:rPr>
              <a:t>装置と共に生きる生活が、本人のラインの上にあるか</a:t>
            </a:r>
            <a:endParaRPr lang="en-US" sz="1600" dirty="0"/>
          </a:p>
        </p:txBody>
      </p:sp>
      <p:sp>
        <p:nvSpPr>
          <p:cNvPr id="14" name="Shape 12"/>
          <p:cNvSpPr/>
          <p:nvPr/>
        </p:nvSpPr>
        <p:spPr>
          <a:xfrm>
            <a:off x="457200" y="2798064"/>
            <a:ext cx="2377440" cy="603504"/>
          </a:xfrm>
          <a:prstGeom prst="rect">
            <a:avLst/>
          </a:prstGeom>
          <a:solidFill>
            <a:srgbClr val="1E4A6E"/>
          </a:solidFill>
          <a:ln w="15875">
            <a:solidFill>
              <a:srgbClr val="1E4A6E"/>
            </a:solidFill>
            <a:prstDash val="solid"/>
          </a:ln>
        </p:spPr>
      </p:sp>
      <p:sp>
        <p:nvSpPr>
          <p:cNvPr id="15" name="Text 13"/>
          <p:cNvSpPr/>
          <p:nvPr/>
        </p:nvSpPr>
        <p:spPr>
          <a:xfrm>
            <a:off x="457200" y="2798064"/>
            <a:ext cx="2377440" cy="603504"/>
          </a:xfrm>
          <a:prstGeom prst="rect">
            <a:avLst/>
          </a:prstGeom>
          <a:noFill/>
          <a:ln/>
        </p:spPr>
        <p:txBody>
          <a:bodyPr wrap="square" lIns="0" tIns="0" rIns="0" bIns="0" rtlCol="0" anchor="ctr"/>
          <a:lstStyle/>
          <a:p>
            <a:pPr algn="ctr" indent="0" marL="0">
              <a:buNone/>
            </a:pPr>
            <a:r>
              <a:rPr lang="en-US" sz="1700" b="1" dirty="0">
                <a:solidFill>
                  <a:srgbClr val="FFFFFF"/>
                </a:solidFill>
                <a:latin typeface="メイリオ" pitchFamily="34" charset="0"/>
                <a:ea typeface="メイリオ" pitchFamily="34" charset="-122"/>
                <a:cs typeface="メイリオ" pitchFamily="34" charset="-120"/>
              </a:rPr>
              <a:t>ICDの停止</a:t>
            </a:r>
            <a:endParaRPr lang="en-US" sz="1700" dirty="0"/>
          </a:p>
        </p:txBody>
      </p:sp>
      <p:sp>
        <p:nvSpPr>
          <p:cNvPr id="16" name="Shape 14"/>
          <p:cNvSpPr/>
          <p:nvPr/>
        </p:nvSpPr>
        <p:spPr>
          <a:xfrm>
            <a:off x="2834640" y="2798064"/>
            <a:ext cx="5852160" cy="603504"/>
          </a:xfrm>
          <a:prstGeom prst="rect">
            <a:avLst/>
          </a:prstGeom>
          <a:solidFill>
            <a:srgbClr val="EAF2F7"/>
          </a:solidFill>
          <a:ln w="15875">
            <a:solidFill>
              <a:srgbClr val="EAF2F7"/>
            </a:solidFill>
            <a:prstDash val="solid"/>
          </a:ln>
        </p:spPr>
      </p:sp>
      <p:sp>
        <p:nvSpPr>
          <p:cNvPr id="17" name="Text 15"/>
          <p:cNvSpPr/>
          <p:nvPr/>
        </p:nvSpPr>
        <p:spPr>
          <a:xfrm>
            <a:off x="3017520" y="2798064"/>
            <a:ext cx="5577840" cy="603504"/>
          </a:xfrm>
          <a:prstGeom prst="rect">
            <a:avLst/>
          </a:prstGeom>
          <a:noFill/>
          <a:ln/>
        </p:spPr>
        <p:txBody>
          <a:bodyPr wrap="square" lIns="0" tIns="0" rIns="0" bIns="0" rtlCol="0" anchor="ctr"/>
          <a:lstStyle/>
          <a:p>
            <a:pPr indent="0" marL="0">
              <a:buNone/>
            </a:pPr>
            <a:r>
              <a:rPr lang="en-US" sz="1600" dirty="0">
                <a:solidFill>
                  <a:srgbClr val="12324A"/>
                </a:solidFill>
                <a:latin typeface="メイリオ" pitchFamily="34" charset="0"/>
                <a:ea typeface="メイリオ" pitchFamily="34" charset="-122"/>
                <a:cs typeface="メイリオ" pitchFamily="34" charset="-120"/>
              </a:rPr>
              <a:t>ラインに近づいたら、作動の苦痛と延命効果をどう考えるか</a:t>
            </a:r>
            <a:endParaRPr lang="en-US" sz="1600" dirty="0"/>
          </a:p>
        </p:txBody>
      </p:sp>
      <p:sp>
        <p:nvSpPr>
          <p:cNvPr id="18" name="Shape 16"/>
          <p:cNvSpPr/>
          <p:nvPr/>
        </p:nvSpPr>
        <p:spPr>
          <a:xfrm>
            <a:off x="457200" y="3511296"/>
            <a:ext cx="2377440" cy="603504"/>
          </a:xfrm>
          <a:prstGeom prst="rect">
            <a:avLst/>
          </a:prstGeom>
          <a:solidFill>
            <a:srgbClr val="1E4A6E"/>
          </a:solidFill>
          <a:ln w="15875">
            <a:solidFill>
              <a:srgbClr val="1E4A6E"/>
            </a:solidFill>
            <a:prstDash val="solid"/>
          </a:ln>
        </p:spPr>
      </p:sp>
      <p:sp>
        <p:nvSpPr>
          <p:cNvPr id="19" name="Text 17"/>
          <p:cNvSpPr/>
          <p:nvPr/>
        </p:nvSpPr>
        <p:spPr>
          <a:xfrm>
            <a:off x="457200" y="3511296"/>
            <a:ext cx="2377440" cy="603504"/>
          </a:xfrm>
          <a:prstGeom prst="rect">
            <a:avLst/>
          </a:prstGeom>
          <a:noFill/>
          <a:ln/>
        </p:spPr>
        <p:txBody>
          <a:bodyPr wrap="square" lIns="0" tIns="0" rIns="0" bIns="0" rtlCol="0" anchor="ctr"/>
          <a:lstStyle/>
          <a:p>
            <a:pPr algn="ctr" indent="0" marL="0">
              <a:buNone/>
            </a:pPr>
            <a:r>
              <a:rPr lang="en-US" sz="1700" b="1" dirty="0">
                <a:solidFill>
                  <a:srgbClr val="FFFFFF"/>
                </a:solidFill>
                <a:latin typeface="メイリオ" pitchFamily="34" charset="0"/>
                <a:ea typeface="メイリオ" pitchFamily="34" charset="-122"/>
                <a:cs typeface="メイリオ" pitchFamily="34" charset="-120"/>
              </a:rPr>
              <a:t>緩和ケアへの移行</a:t>
            </a:r>
            <a:endParaRPr lang="en-US" sz="1700" dirty="0"/>
          </a:p>
        </p:txBody>
      </p:sp>
      <p:sp>
        <p:nvSpPr>
          <p:cNvPr id="20" name="Shape 18"/>
          <p:cNvSpPr/>
          <p:nvPr/>
        </p:nvSpPr>
        <p:spPr>
          <a:xfrm>
            <a:off x="2834640" y="3511296"/>
            <a:ext cx="5852160" cy="603504"/>
          </a:xfrm>
          <a:prstGeom prst="rect">
            <a:avLst/>
          </a:prstGeom>
          <a:solidFill>
            <a:srgbClr val="EAF2F7"/>
          </a:solidFill>
          <a:ln w="15875">
            <a:solidFill>
              <a:srgbClr val="EAF2F7"/>
            </a:solidFill>
            <a:prstDash val="solid"/>
          </a:ln>
        </p:spPr>
      </p:sp>
      <p:sp>
        <p:nvSpPr>
          <p:cNvPr id="21" name="Text 19"/>
          <p:cNvSpPr/>
          <p:nvPr/>
        </p:nvSpPr>
        <p:spPr>
          <a:xfrm>
            <a:off x="3017520" y="3511296"/>
            <a:ext cx="5577840" cy="603504"/>
          </a:xfrm>
          <a:prstGeom prst="rect">
            <a:avLst/>
          </a:prstGeom>
          <a:noFill/>
          <a:ln/>
        </p:spPr>
        <p:txBody>
          <a:bodyPr wrap="square" lIns="0" tIns="0" rIns="0" bIns="0" rtlCol="0" anchor="ctr"/>
          <a:lstStyle/>
          <a:p>
            <a:pPr indent="0" marL="0">
              <a:buNone/>
            </a:pPr>
            <a:r>
              <a:rPr lang="en-US" sz="1600" dirty="0">
                <a:solidFill>
                  <a:srgbClr val="12324A"/>
                </a:solidFill>
                <a:latin typeface="メイリオ" pitchFamily="34" charset="0"/>
                <a:ea typeface="メイリオ" pitchFamily="34" charset="-122"/>
                <a:cs typeface="メイリオ" pitchFamily="34" charset="-120"/>
              </a:rPr>
              <a:t>接近を共有し、過ごし方を中心に（治療と並行できる）</a:t>
            </a:r>
            <a:endParaRPr lang="en-US" sz="1600" dirty="0"/>
          </a:p>
        </p:txBody>
      </p:sp>
      <p:sp>
        <p:nvSpPr>
          <p:cNvPr id="22" name="Text 20"/>
          <p:cNvSpPr/>
          <p:nvPr/>
        </p:nvSpPr>
        <p:spPr>
          <a:xfrm>
            <a:off x="457200" y="4224528"/>
            <a:ext cx="8229600" cy="365760"/>
          </a:xfrm>
          <a:prstGeom prst="rect">
            <a:avLst/>
          </a:prstGeom>
          <a:noFill/>
          <a:ln/>
        </p:spPr>
        <p:txBody>
          <a:bodyPr wrap="square" lIns="0" tIns="0" rIns="0" bIns="0" rtlCol="0" anchor="ctr"/>
          <a:lstStyle/>
          <a:p>
            <a:pPr indent="0" marL="0">
              <a:buNone/>
            </a:pPr>
            <a:r>
              <a:rPr lang="en-US" sz="1600" b="1" dirty="0">
                <a:solidFill>
                  <a:srgbClr val="C9661A"/>
                </a:solidFill>
                <a:latin typeface="メイリオ" pitchFamily="34" charset="0"/>
                <a:ea typeface="メイリオ" pitchFamily="34" charset="-122"/>
                <a:cs typeface="メイリオ" pitchFamily="34" charset="-120"/>
              </a:rPr>
              <a:t>入退院を繰り返す段階</a:t>
            </a:r>
            <a:pPr indent="0" marL="0">
              <a:buNone/>
            </a:pPr>
            <a:r>
              <a:rPr lang="en-US" sz="1600" b="1" dirty="0">
                <a:solidFill>
                  <a:srgbClr val="12324A"/>
                </a:solidFill>
                <a:latin typeface="メイリオ" pitchFamily="34" charset="0"/>
                <a:ea typeface="メイリオ" pitchFamily="34" charset="-122"/>
                <a:cs typeface="メイリオ" pitchFamily="34" charset="-120"/>
              </a:rPr>
              <a:t> が、ラインの確認と見直しの最重要タイミング</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14</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SICG との関係</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Serious Illness Conversation Guide（Ariadne Labs）</a:t>
            </a:r>
            <a:endParaRPr lang="en-US" sz="1700" dirty="0"/>
          </a:p>
        </p:txBody>
      </p:sp>
      <p:sp>
        <p:nvSpPr>
          <p:cNvPr id="6" name="Shape 4"/>
          <p:cNvSpPr/>
          <p:nvPr/>
        </p:nvSpPr>
        <p:spPr>
          <a:xfrm>
            <a:off x="457200" y="1417320"/>
            <a:ext cx="3977640" cy="2331720"/>
          </a:xfrm>
          <a:prstGeom prst="rect">
            <a:avLst/>
          </a:prstGeom>
          <a:solidFill>
            <a:srgbClr val="EAF2F7"/>
          </a:solidFill>
          <a:ln w="15875">
            <a:solidFill>
              <a:srgbClr val="EAF2F7"/>
            </a:solidFill>
            <a:prstDash val="solid"/>
          </a:ln>
        </p:spPr>
      </p:sp>
      <p:sp>
        <p:nvSpPr>
          <p:cNvPr id="7" name="Text 5"/>
          <p:cNvSpPr/>
          <p:nvPr/>
        </p:nvSpPr>
        <p:spPr>
          <a:xfrm>
            <a:off x="640080" y="1463040"/>
            <a:ext cx="3611880" cy="2240280"/>
          </a:xfrm>
          <a:prstGeom prst="rect">
            <a:avLst/>
          </a:prstGeom>
          <a:noFill/>
          <a:ln/>
        </p:spPr>
        <p:txBody>
          <a:bodyPr wrap="square" lIns="0" tIns="0" rIns="0" bIns="0" rtlCol="0" anchor="ctr"/>
          <a:lstStyle/>
          <a:p>
            <a:pPr indent="0" marL="0">
              <a:buNone/>
            </a:pPr>
            <a:r>
              <a:rPr lang="en-US" sz="1600" b="1" dirty="0">
                <a:solidFill>
                  <a:srgbClr val="12324A"/>
                </a:solidFill>
                <a:latin typeface="メイリオ" pitchFamily="34" charset="0"/>
                <a:ea typeface="メイリオ" pitchFamily="34" charset="-122"/>
                <a:cs typeface="メイリオ" pitchFamily="34" charset="-120"/>
              </a:rPr>
              <a:t>旧版の問い
</a:t>
            </a:r>
            <a:pPr indent="0" marL="0">
              <a:buNone/>
            </a:pPr>
            <a:r>
              <a:rPr lang="en-US" sz="1600" dirty="0">
                <a:solidFill>
                  <a:srgbClr val="12324A"/>
                </a:solidFill>
                <a:latin typeface="メイリオ" pitchFamily="34" charset="0"/>
                <a:ea typeface="メイリオ" pitchFamily="34" charset="-122"/>
                <a:cs typeface="メイリオ" pitchFamily="34" charset="-120"/>
              </a:rPr>
              <a:t>「それなしでは生きることが考えられないほど大切な能力は何ですか」
</a:t>
            </a:r>
            <a:pPr indent="0" marL="0">
              <a:buNone/>
            </a:pPr>
            <a:r>
              <a:rPr lang="en-US" sz="1500" b="1" dirty="0">
                <a:solidFill>
                  <a:srgbClr val="12324A"/>
                </a:solidFill>
                <a:latin typeface="メイリオ" pitchFamily="34" charset="0"/>
                <a:ea typeface="メイリオ" pitchFamily="34" charset="-122"/>
                <a:cs typeface="メイリオ" pitchFamily="34" charset="-120"/>
              </a:rPr>
              <a:t>→ 本資料のスケールは、この発想を図にしたもの</a:t>
            </a:r>
            <a:endParaRPr lang="en-US" sz="1800" dirty="0"/>
          </a:p>
        </p:txBody>
      </p:sp>
      <p:sp>
        <p:nvSpPr>
          <p:cNvPr id="8" name="Shape 6"/>
          <p:cNvSpPr/>
          <p:nvPr/>
        </p:nvSpPr>
        <p:spPr>
          <a:xfrm>
            <a:off x="4709160" y="1417320"/>
            <a:ext cx="3977640" cy="2331720"/>
          </a:xfrm>
          <a:prstGeom prst="rect">
            <a:avLst/>
          </a:prstGeom>
          <a:solidFill>
            <a:srgbClr val="FBF0E4"/>
          </a:solidFill>
          <a:ln w="15875">
            <a:solidFill>
              <a:srgbClr val="C9661A"/>
            </a:solidFill>
            <a:prstDash val="solid"/>
          </a:ln>
        </p:spPr>
      </p:sp>
      <p:sp>
        <p:nvSpPr>
          <p:cNvPr id="9" name="Text 7"/>
          <p:cNvSpPr/>
          <p:nvPr/>
        </p:nvSpPr>
        <p:spPr>
          <a:xfrm>
            <a:off x="4892040" y="1463040"/>
            <a:ext cx="3611880" cy="2240280"/>
          </a:xfrm>
          <a:prstGeom prst="rect">
            <a:avLst/>
          </a:prstGeom>
          <a:noFill/>
          <a:ln/>
        </p:spPr>
        <p:txBody>
          <a:bodyPr wrap="square" lIns="0" tIns="0" rIns="0" bIns="0" rtlCol="0" anchor="ctr"/>
          <a:lstStyle/>
          <a:p>
            <a:pPr indent="0" marL="0">
              <a:buNone/>
            </a:pPr>
            <a:r>
              <a:rPr lang="en-US" sz="1600" b="1" dirty="0">
                <a:solidFill>
                  <a:srgbClr val="C9661A"/>
                </a:solidFill>
                <a:latin typeface="メイリオ" pitchFamily="34" charset="0"/>
                <a:ea typeface="メイリオ" pitchFamily="34" charset="-122"/>
                <a:cs typeface="メイリオ" pitchFamily="34" charset="-120"/>
              </a:rPr>
              <a:t>2023年の改訂
</a:t>
            </a:r>
            <a:pPr indent="0" marL="0">
              <a:buNone/>
            </a:pPr>
            <a:r>
              <a:rPr lang="en-US" sz="1500" dirty="0">
                <a:solidFill>
                  <a:srgbClr val="12324A"/>
                </a:solidFill>
                <a:latin typeface="メイリオ" pitchFamily="34" charset="0"/>
                <a:ea typeface="メイリオ" pitchFamily="34" charset="-122"/>
                <a:cs typeface="メイリオ" pitchFamily="34" charset="-120"/>
              </a:rPr>
              <a:t>「大切な能力」の問いは障害をもつ人に価値判断的に響きうるとして
</a:t>
            </a:r>
            <a:pPr indent="0" marL="0">
              <a:buNone/>
            </a:pPr>
            <a:r>
              <a:rPr lang="en-US" sz="1500" b="1" dirty="0">
                <a:solidFill>
                  <a:srgbClr val="12324A"/>
                </a:solidFill>
                <a:latin typeface="メイリオ" pitchFamily="34" charset="0"/>
                <a:ea typeface="メイリオ" pitchFamily="34" charset="-122"/>
                <a:cs typeface="メイリオ" pitchFamily="34" charset="-120"/>
              </a:rPr>
              <a:t>人生に喜びや意味をもたらす活動</a:t>
            </a:r>
            <a:pPr indent="0" marL="0">
              <a:buNone/>
            </a:pPr>
            <a:endParaRPr lang="en-US" sz="1800" dirty="0"/>
          </a:p>
          <a:p>
            <a:pPr indent="0" marL="0">
              <a:buNone/>
            </a:pPr>
            <a:r>
              <a:rPr lang="en-US" sz="1500" dirty="0">
                <a:solidFill>
                  <a:srgbClr val="12324A"/>
                </a:solidFill>
                <a:latin typeface="メイリオ" pitchFamily="34" charset="0"/>
                <a:ea typeface="メイリオ" pitchFamily="34" charset="-122"/>
                <a:cs typeface="メイリオ" pitchFamily="34" charset="-120"/>
              </a:rPr>
              <a:t>を尋ねる問いへ変更された</a:t>
            </a:r>
            <a:endParaRPr lang="en-US" sz="1800" dirty="0"/>
          </a:p>
        </p:txBody>
      </p:sp>
      <p:sp>
        <p:nvSpPr>
          <p:cNvPr id="10" name="Text 8"/>
          <p:cNvSpPr/>
          <p:nvPr/>
        </p:nvSpPr>
        <p:spPr>
          <a:xfrm>
            <a:off x="457200" y="3931920"/>
            <a:ext cx="8229600" cy="457200"/>
          </a:xfrm>
          <a:prstGeom prst="rect">
            <a:avLst/>
          </a:prstGeom>
          <a:noFill/>
          <a:ln/>
        </p:spPr>
        <p:txBody>
          <a:bodyPr wrap="square" lIns="0" tIns="0" rIns="0" bIns="0" rtlCol="0" anchor="ctr"/>
          <a:lstStyle/>
          <a:p>
            <a:pPr indent="0" marL="0">
              <a:buNone/>
            </a:pPr>
            <a:r>
              <a:rPr lang="en-US" sz="1700" b="1" dirty="0">
                <a:solidFill>
                  <a:srgbClr val="12324A"/>
                </a:solidFill>
                <a:latin typeface="メイリオ" pitchFamily="34" charset="0"/>
                <a:ea typeface="メイリオ" pitchFamily="34" charset="-122"/>
                <a:cs typeface="メイリオ" pitchFamily="34" charset="-120"/>
              </a:rPr>
              <a:t>「楽しみ・生きがいから入る」流れは、改訂の方向性と一致する</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15</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ラインは固定ではない：response shift</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悪化すると、許容できないとしていた状態を受け入れる人は少なくない</a:t>
            </a:r>
            <a:endParaRPr lang="en-US" sz="1700" dirty="0"/>
          </a:p>
        </p:txBody>
      </p:sp>
      <p:sp>
        <p:nvSpPr>
          <p:cNvPr id="6" name="Shape 4"/>
          <p:cNvSpPr/>
          <p:nvPr/>
        </p:nvSpPr>
        <p:spPr>
          <a:xfrm>
            <a:off x="457200" y="1417320"/>
            <a:ext cx="3931920" cy="2377440"/>
          </a:xfrm>
          <a:prstGeom prst="rect">
            <a:avLst/>
          </a:prstGeom>
          <a:solidFill>
            <a:srgbClr val="EAF2F7"/>
          </a:solidFill>
          <a:ln w="15875">
            <a:solidFill>
              <a:srgbClr val="EAF2F7"/>
            </a:solidFill>
            <a:prstDash val="solid"/>
          </a:ln>
        </p:spPr>
      </p:sp>
      <p:sp>
        <p:nvSpPr>
          <p:cNvPr id="7" name="Text 5"/>
          <p:cNvSpPr/>
          <p:nvPr/>
        </p:nvSpPr>
        <p:spPr>
          <a:xfrm>
            <a:off x="640080" y="1463040"/>
            <a:ext cx="3566160" cy="2286000"/>
          </a:xfrm>
          <a:prstGeom prst="rect">
            <a:avLst/>
          </a:prstGeom>
          <a:noFill/>
          <a:ln/>
        </p:spPr>
        <p:txBody>
          <a:bodyPr wrap="square" lIns="0" tIns="0" rIns="0" bIns="0" rtlCol="0" anchor="ctr"/>
          <a:lstStyle/>
          <a:p>
            <a:pPr algn="ctr" indent="0" marL="0">
              <a:lnSpc>
                <a:spcPct val="105000"/>
              </a:lnSpc>
              <a:buNone/>
            </a:pPr>
            <a:r>
              <a:rPr lang="en-US" sz="1500" b="1" dirty="0">
                <a:solidFill>
                  <a:srgbClr val="12324A"/>
                </a:solidFill>
                <a:latin typeface="メイリオ" pitchFamily="34" charset="0"/>
                <a:ea typeface="メイリオ" pitchFamily="34" charset="-122"/>
                <a:cs typeface="メイリオ" pitchFamily="34" charset="-120"/>
              </a:rPr>
              <a:t>重症入院患者180人の調査
</a:t>
            </a:r>
            <a:pPr algn="ctr" indent="0" marL="0">
              <a:lnSpc>
                <a:spcPct val="105000"/>
              </a:lnSpc>
              <a:buNone/>
            </a:pPr>
            <a:r>
              <a:rPr lang="en-US" sz="1400" dirty="0">
                <a:solidFill>
                  <a:srgbClr val="12324A"/>
                </a:solidFill>
                <a:latin typeface="メイリオ" pitchFamily="34" charset="0"/>
                <a:ea typeface="メイリオ" pitchFamily="34" charset="-122"/>
                <a:cs typeface="メイリオ" pitchFamily="34" charset="-120"/>
              </a:rPr>
              <a:t>失禁・人工呼吸器・寝たきりの状態を
「死と同等以上に悪い」と答えた人
</a:t>
            </a:r>
            <a:pPr algn="ctr" indent="0" marL="0">
              <a:lnSpc>
                <a:spcPct val="105000"/>
              </a:lnSpc>
              <a:buNone/>
            </a:pPr>
            <a:r>
              <a:rPr lang="en-US" sz="4000" b="1" dirty="0">
                <a:solidFill>
                  <a:srgbClr val="C9661A"/>
                </a:solidFill>
                <a:latin typeface="メイリオ" pitchFamily="34" charset="0"/>
                <a:ea typeface="メイリオ" pitchFamily="34" charset="-122"/>
                <a:cs typeface="メイリオ" pitchFamily="34" charset="-120"/>
              </a:rPr>
              <a:t>約7割</a:t>
            </a:r>
            <a:pPr algn="ctr" indent="0" marL="0">
              <a:lnSpc>
                <a:spcPct val="105000"/>
              </a:lnSpc>
              <a:buNone/>
            </a:pPr>
            <a:endParaRPr lang="en-US" sz="1800" dirty="0"/>
          </a:p>
          <a:p>
            <a:pPr algn="ctr" indent="0" marL="0">
              <a:lnSpc>
                <a:spcPct val="105000"/>
              </a:lnSpc>
              <a:buNone/>
            </a:pPr>
            <a:r>
              <a:rPr lang="en-US" sz="1500" b="1" dirty="0">
                <a:solidFill>
                  <a:srgbClr val="12324A"/>
                </a:solidFill>
                <a:latin typeface="メイリオ" pitchFamily="34" charset="0"/>
                <a:ea typeface="メイリオ" pitchFamily="34" charset="-122"/>
                <a:cs typeface="メイリオ" pitchFamily="34" charset="-120"/>
              </a:rPr>
              <a:t>ただし全員、その状態を未経験</a:t>
            </a:r>
            <a:endParaRPr lang="en-US" sz="1800" dirty="0"/>
          </a:p>
        </p:txBody>
      </p:sp>
      <p:sp>
        <p:nvSpPr>
          <p:cNvPr id="8" name="Text 6"/>
          <p:cNvSpPr/>
          <p:nvPr/>
        </p:nvSpPr>
        <p:spPr>
          <a:xfrm>
            <a:off x="457200" y="3840480"/>
            <a:ext cx="3931920" cy="274320"/>
          </a:xfrm>
          <a:prstGeom prst="rect">
            <a:avLst/>
          </a:prstGeom>
          <a:noFill/>
          <a:ln/>
        </p:spPr>
        <p:txBody>
          <a:bodyPr wrap="square" lIns="0" tIns="0" rIns="0" bIns="0" rtlCol="0" anchor="t"/>
          <a:lstStyle/>
          <a:p>
            <a:pPr algn="ctr" indent="0" marL="0">
              <a:buNone/>
            </a:pPr>
            <a:r>
              <a:rPr lang="en-US" sz="1200" dirty="0">
                <a:solidFill>
                  <a:srgbClr val="12324A"/>
                </a:solidFill>
                <a:latin typeface="メイリオ" pitchFamily="34" charset="0"/>
                <a:ea typeface="メイリオ" pitchFamily="34" charset="-122"/>
                <a:cs typeface="メイリオ" pitchFamily="34" charset="-120"/>
              </a:rPr>
              <a:t>Rubin EB, et al. JAMA Intern Med 2016</a:t>
            </a:r>
            <a:endParaRPr lang="en-US" sz="1200" dirty="0"/>
          </a:p>
        </p:txBody>
      </p:sp>
      <p:sp>
        <p:nvSpPr>
          <p:cNvPr id="9" name="Shape 7"/>
          <p:cNvSpPr/>
          <p:nvPr/>
        </p:nvSpPr>
        <p:spPr>
          <a:xfrm>
            <a:off x="4663440" y="1417320"/>
            <a:ext cx="4023360" cy="2697480"/>
          </a:xfrm>
          <a:prstGeom prst="rect">
            <a:avLst/>
          </a:prstGeom>
          <a:solidFill>
            <a:srgbClr val="FBF0E4"/>
          </a:solidFill>
          <a:ln w="15875">
            <a:solidFill>
              <a:srgbClr val="C9661A"/>
            </a:solidFill>
            <a:prstDash val="solid"/>
          </a:ln>
        </p:spPr>
      </p:sp>
      <p:sp>
        <p:nvSpPr>
          <p:cNvPr id="10" name="Text 8"/>
          <p:cNvSpPr/>
          <p:nvPr/>
        </p:nvSpPr>
        <p:spPr>
          <a:xfrm>
            <a:off x="4846320" y="1463040"/>
            <a:ext cx="3657600" cy="2606040"/>
          </a:xfrm>
          <a:prstGeom prst="rect">
            <a:avLst/>
          </a:prstGeom>
          <a:noFill/>
          <a:ln/>
        </p:spPr>
        <p:txBody>
          <a:bodyPr wrap="square" lIns="0" tIns="0" rIns="0" bIns="0" rtlCol="0" anchor="ctr"/>
          <a:lstStyle/>
          <a:p>
            <a:pPr indent="0" marL="0">
              <a:buNone/>
            </a:pPr>
            <a:r>
              <a:rPr lang="en-US" sz="1700" b="1" dirty="0">
                <a:solidFill>
                  <a:srgbClr val="12324A"/>
                </a:solidFill>
                <a:latin typeface="メイリオ" pitchFamily="34" charset="0"/>
                <a:ea typeface="メイリオ" pitchFamily="34" charset="-122"/>
                <a:cs typeface="メイリオ" pitchFamily="34" charset="-120"/>
              </a:rPr>
              <a:t>再確認のタイミング
</a:t>
            </a:r>
            <a:pPr indent="0" marL="0">
              <a:lnSpc>
                <a:spcPct val="120000"/>
              </a:lnSpc>
              <a:buNone/>
            </a:pPr>
            <a:r>
              <a:rPr lang="en-US" sz="1600" dirty="0">
                <a:solidFill>
                  <a:srgbClr val="12324A"/>
                </a:solidFill>
                <a:latin typeface="メイリオ" pitchFamily="34" charset="0"/>
                <a:ea typeface="メイリオ" pitchFamily="34" charset="-122"/>
                <a:cs typeface="メイリオ" pitchFamily="34" charset="-120"/>
              </a:rPr>
              <a:t>・増悪で入院したとき
・治療を選ぶ前
・退院前カンファレンス
・外来で状態が変わったとき
</a:t>
            </a:r>
            <a:pPr indent="0" marL="0">
              <a:buNone/>
            </a:pPr>
            <a:r>
              <a:rPr lang="en-US" sz="1500" b="1" dirty="0">
                <a:solidFill>
                  <a:srgbClr val="12324A"/>
                </a:solidFill>
                <a:latin typeface="メイリオ" pitchFamily="34" charset="0"/>
                <a:ea typeface="メイリオ" pitchFamily="34" charset="-122"/>
                <a:cs typeface="メイリオ" pitchFamily="34" charset="-120"/>
              </a:rPr>
              <a:t>「前回の〇〇は、今も同じですか」</a:t>
            </a:r>
            <a:endParaRPr lang="en-US" sz="1800" dirty="0"/>
          </a:p>
        </p:txBody>
      </p:sp>
      <p:sp>
        <p:nvSpPr>
          <p:cNvPr id="11" name="Text 9"/>
          <p:cNvSpPr/>
          <p:nvPr/>
        </p:nvSpPr>
        <p:spPr>
          <a:xfrm>
            <a:off x="457200" y="4224528"/>
            <a:ext cx="8229600" cy="365760"/>
          </a:xfrm>
          <a:prstGeom prst="rect">
            <a:avLst/>
          </a:prstGeom>
          <a:noFill/>
          <a:ln/>
        </p:spPr>
        <p:txBody>
          <a:bodyPr wrap="square" lIns="0" tIns="0" rIns="0" bIns="0" rtlCol="0" anchor="ctr"/>
          <a:lstStyle/>
          <a:p>
            <a:pPr indent="0" marL="0">
              <a:buNone/>
            </a:pPr>
            <a:r>
              <a:rPr lang="en-US" sz="1400" dirty="0">
                <a:solidFill>
                  <a:srgbClr val="12324A"/>
                </a:solidFill>
                <a:latin typeface="メイリオ" pitchFamily="34" charset="0"/>
                <a:ea typeface="メイリオ" pitchFamily="34" charset="-122"/>
                <a:cs typeface="メイリオ" pitchFamily="34" charset="-120"/>
              </a:rPr>
              <a:t>心不全患者でも、延命治療・蘇生に関する意向は時間とともに大きく揺れ動くことが報告されている</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16</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会話で気をつけること</a:t>
            </a:r>
            <a:endParaRPr lang="en-US" sz="3000" dirty="0"/>
          </a:p>
        </p:txBody>
      </p:sp>
      <p:sp>
        <p:nvSpPr>
          <p:cNvPr id="5" name="Shape 3"/>
          <p:cNvSpPr/>
          <p:nvPr/>
        </p:nvSpPr>
        <p:spPr>
          <a:xfrm>
            <a:off x="457200" y="1051560"/>
            <a:ext cx="128016" cy="777240"/>
          </a:xfrm>
          <a:prstGeom prst="rect">
            <a:avLst/>
          </a:prstGeom>
          <a:solidFill>
            <a:srgbClr val="B23A2B"/>
          </a:solidFill>
          <a:ln w="15875">
            <a:solidFill>
              <a:srgbClr val="B23A2B"/>
            </a:solidFill>
            <a:prstDash val="solid"/>
          </a:ln>
        </p:spPr>
      </p:sp>
      <p:sp>
        <p:nvSpPr>
          <p:cNvPr id="6" name="Text 4"/>
          <p:cNvSpPr/>
          <p:nvPr/>
        </p:nvSpPr>
        <p:spPr>
          <a:xfrm>
            <a:off x="731520" y="1051560"/>
            <a:ext cx="7955280" cy="329184"/>
          </a:xfrm>
          <a:prstGeom prst="rect">
            <a:avLst/>
          </a:prstGeom>
          <a:noFill/>
          <a:ln/>
        </p:spPr>
        <p:txBody>
          <a:bodyPr wrap="square" lIns="0" tIns="0" rIns="0" bIns="0" rtlCol="0" anchor="ctr"/>
          <a:lstStyle/>
          <a:p>
            <a:pPr indent="0" marL="0">
              <a:buNone/>
            </a:pPr>
            <a:r>
              <a:rPr lang="en-US" sz="1800" b="1" dirty="0">
                <a:solidFill>
                  <a:srgbClr val="B23A2B"/>
                </a:solidFill>
                <a:latin typeface="メイリオ" pitchFamily="34" charset="0"/>
                <a:ea typeface="メイリオ" pitchFamily="34" charset="-122"/>
                <a:cs typeface="メイリオ" pitchFamily="34" charset="-120"/>
              </a:rPr>
              <a:t>障害を否定的に扱わない</a:t>
            </a:r>
            <a:endParaRPr lang="en-US" sz="1800" dirty="0"/>
          </a:p>
        </p:txBody>
      </p:sp>
      <p:sp>
        <p:nvSpPr>
          <p:cNvPr id="7" name="Text 5"/>
          <p:cNvSpPr/>
          <p:nvPr/>
        </p:nvSpPr>
        <p:spPr>
          <a:xfrm>
            <a:off x="731520" y="1399032"/>
            <a:ext cx="7955280" cy="457200"/>
          </a:xfrm>
          <a:prstGeom prst="rect">
            <a:avLst/>
          </a:prstGeom>
          <a:noFill/>
          <a:ln/>
        </p:spPr>
        <p:txBody>
          <a:bodyPr wrap="square" lIns="0" tIns="0" rIns="0" bIns="0" rtlCol="0" anchor="ctr"/>
          <a:lstStyle/>
          <a:p>
            <a:pPr indent="0" marL="0">
              <a:buNone/>
            </a:pPr>
            <a:r>
              <a:rPr lang="en-US" sz="1500" dirty="0">
                <a:solidFill>
                  <a:srgbClr val="12324A"/>
                </a:solidFill>
                <a:latin typeface="メイリオ" pitchFamily="34" charset="0"/>
                <a:ea typeface="メイリオ" pitchFamily="34" charset="-122"/>
                <a:cs typeface="メイリオ" pitchFamily="34" charset="-120"/>
              </a:rPr>
              <a:t>車椅子・寝たきりは例示にすぎない。スケールを見せて選ばせず、楽しみから探る</a:t>
            </a:r>
            <a:endParaRPr lang="en-US" sz="1500" dirty="0"/>
          </a:p>
        </p:txBody>
      </p:sp>
      <p:sp>
        <p:nvSpPr>
          <p:cNvPr id="8" name="Shape 6"/>
          <p:cNvSpPr/>
          <p:nvPr/>
        </p:nvSpPr>
        <p:spPr>
          <a:xfrm>
            <a:off x="457200" y="1965960"/>
            <a:ext cx="128016" cy="777240"/>
          </a:xfrm>
          <a:prstGeom prst="rect">
            <a:avLst/>
          </a:prstGeom>
          <a:solidFill>
            <a:srgbClr val="1E4A6E"/>
          </a:solidFill>
          <a:ln w="15875">
            <a:solidFill>
              <a:srgbClr val="1E4A6E"/>
            </a:solidFill>
            <a:prstDash val="solid"/>
          </a:ln>
        </p:spPr>
      </p:sp>
      <p:sp>
        <p:nvSpPr>
          <p:cNvPr id="9" name="Text 7"/>
          <p:cNvSpPr/>
          <p:nvPr/>
        </p:nvSpPr>
        <p:spPr>
          <a:xfrm>
            <a:off x="731520" y="1965960"/>
            <a:ext cx="7955280" cy="329184"/>
          </a:xfrm>
          <a:prstGeom prst="rect">
            <a:avLst/>
          </a:prstGeom>
          <a:noFill/>
          <a:ln/>
        </p:spPr>
        <p:txBody>
          <a:bodyPr wrap="square" lIns="0" tIns="0" rIns="0" bIns="0" rtlCol="0" anchor="ctr"/>
          <a:lstStyle/>
          <a:p>
            <a:pPr indent="0" marL="0">
              <a:buNone/>
            </a:pPr>
            <a:r>
              <a:rPr lang="en-US" sz="1800" b="1" dirty="0">
                <a:solidFill>
                  <a:srgbClr val="12324A"/>
                </a:solidFill>
                <a:latin typeface="メイリオ" pitchFamily="34" charset="0"/>
                <a:ea typeface="メイリオ" pitchFamily="34" charset="-122"/>
                <a:cs typeface="メイリオ" pitchFamily="34" charset="-120"/>
              </a:rPr>
              <a:t>感情に応える</a:t>
            </a:r>
            <a:endParaRPr lang="en-US" sz="1800" dirty="0"/>
          </a:p>
        </p:txBody>
      </p:sp>
      <p:sp>
        <p:nvSpPr>
          <p:cNvPr id="10" name="Text 8"/>
          <p:cNvSpPr/>
          <p:nvPr/>
        </p:nvSpPr>
        <p:spPr>
          <a:xfrm>
            <a:off x="731520" y="2313432"/>
            <a:ext cx="7955280" cy="457200"/>
          </a:xfrm>
          <a:prstGeom prst="rect">
            <a:avLst/>
          </a:prstGeom>
          <a:noFill/>
          <a:ln/>
        </p:spPr>
        <p:txBody>
          <a:bodyPr wrap="square" lIns="0" tIns="0" rIns="0" bIns="0" rtlCol="0" anchor="ctr"/>
          <a:lstStyle/>
          <a:p>
            <a:pPr indent="0" marL="0">
              <a:buNone/>
            </a:pPr>
            <a:r>
              <a:rPr lang="en-US" sz="1500" dirty="0">
                <a:solidFill>
                  <a:srgbClr val="12324A"/>
                </a:solidFill>
                <a:latin typeface="メイリオ" pitchFamily="34" charset="0"/>
                <a:ea typeface="メイリオ" pitchFamily="34" charset="-122"/>
                <a:cs typeface="メイリオ" pitchFamily="34" charset="-120"/>
              </a:rPr>
              <a:t>沈黙を恐れず、先に気持ちに応える。話したくない日は無理に進めない</a:t>
            </a:r>
            <a:endParaRPr lang="en-US" sz="1500" dirty="0"/>
          </a:p>
        </p:txBody>
      </p:sp>
      <p:sp>
        <p:nvSpPr>
          <p:cNvPr id="11" name="Shape 9"/>
          <p:cNvSpPr/>
          <p:nvPr/>
        </p:nvSpPr>
        <p:spPr>
          <a:xfrm>
            <a:off x="457200" y="2880360"/>
            <a:ext cx="128016" cy="777240"/>
          </a:xfrm>
          <a:prstGeom prst="rect">
            <a:avLst/>
          </a:prstGeom>
          <a:solidFill>
            <a:srgbClr val="1E4A6E"/>
          </a:solidFill>
          <a:ln w="15875">
            <a:solidFill>
              <a:srgbClr val="1E4A6E"/>
            </a:solidFill>
            <a:prstDash val="solid"/>
          </a:ln>
        </p:spPr>
      </p:sp>
      <p:sp>
        <p:nvSpPr>
          <p:cNvPr id="12" name="Text 10"/>
          <p:cNvSpPr/>
          <p:nvPr/>
        </p:nvSpPr>
        <p:spPr>
          <a:xfrm>
            <a:off x="731520" y="2880360"/>
            <a:ext cx="7955280" cy="329184"/>
          </a:xfrm>
          <a:prstGeom prst="rect">
            <a:avLst/>
          </a:prstGeom>
          <a:noFill/>
          <a:ln/>
        </p:spPr>
        <p:txBody>
          <a:bodyPr wrap="square" lIns="0" tIns="0" rIns="0" bIns="0" rtlCol="0" anchor="ctr"/>
          <a:lstStyle/>
          <a:p>
            <a:pPr indent="0" marL="0">
              <a:buNone/>
            </a:pPr>
            <a:r>
              <a:rPr lang="en-US" sz="1800" b="1" dirty="0">
                <a:solidFill>
                  <a:srgbClr val="12324A"/>
                </a:solidFill>
                <a:latin typeface="メイリオ" pitchFamily="34" charset="0"/>
                <a:ea typeface="メイリオ" pitchFamily="34" charset="-122"/>
                <a:cs typeface="メイリオ" pitchFamily="34" charset="-120"/>
              </a:rPr>
              <a:t>答えなくてよい・変わってよい</a:t>
            </a:r>
            <a:endParaRPr lang="en-US" sz="1800" dirty="0"/>
          </a:p>
        </p:txBody>
      </p:sp>
      <p:sp>
        <p:nvSpPr>
          <p:cNvPr id="13" name="Text 11"/>
          <p:cNvSpPr/>
          <p:nvPr/>
        </p:nvSpPr>
        <p:spPr>
          <a:xfrm>
            <a:off x="731520" y="3227832"/>
            <a:ext cx="7955280" cy="457200"/>
          </a:xfrm>
          <a:prstGeom prst="rect">
            <a:avLst/>
          </a:prstGeom>
          <a:noFill/>
          <a:ln/>
        </p:spPr>
        <p:txBody>
          <a:bodyPr wrap="square" lIns="0" tIns="0" rIns="0" bIns="0" rtlCol="0" anchor="ctr"/>
          <a:lstStyle/>
          <a:p>
            <a:pPr indent="0" marL="0">
              <a:buNone/>
            </a:pPr>
            <a:r>
              <a:rPr lang="en-US" sz="1500" dirty="0">
                <a:solidFill>
                  <a:srgbClr val="12324A"/>
                </a:solidFill>
                <a:latin typeface="メイリオ" pitchFamily="34" charset="0"/>
                <a:ea typeface="メイリオ" pitchFamily="34" charset="-122"/>
                <a:cs typeface="メイリオ" pitchFamily="34" charset="-120"/>
              </a:rPr>
              <a:t>決めきれなくてよいこと、気持ちは変わってよいことを伝える</a:t>
            </a:r>
            <a:endParaRPr lang="en-US" sz="1500" dirty="0"/>
          </a:p>
        </p:txBody>
      </p:sp>
      <p:sp>
        <p:nvSpPr>
          <p:cNvPr id="14" name="Shape 12"/>
          <p:cNvSpPr/>
          <p:nvPr/>
        </p:nvSpPr>
        <p:spPr>
          <a:xfrm>
            <a:off x="457200" y="3794760"/>
            <a:ext cx="128016" cy="777240"/>
          </a:xfrm>
          <a:prstGeom prst="rect">
            <a:avLst/>
          </a:prstGeom>
          <a:solidFill>
            <a:srgbClr val="1E4A6E"/>
          </a:solidFill>
          <a:ln w="15875">
            <a:solidFill>
              <a:srgbClr val="1E4A6E"/>
            </a:solidFill>
            <a:prstDash val="solid"/>
          </a:ln>
        </p:spPr>
      </p:sp>
      <p:sp>
        <p:nvSpPr>
          <p:cNvPr id="15" name="Text 13"/>
          <p:cNvSpPr/>
          <p:nvPr/>
        </p:nvSpPr>
        <p:spPr>
          <a:xfrm>
            <a:off x="731520" y="3794760"/>
            <a:ext cx="7955280" cy="329184"/>
          </a:xfrm>
          <a:prstGeom prst="rect">
            <a:avLst/>
          </a:prstGeom>
          <a:noFill/>
          <a:ln/>
        </p:spPr>
        <p:txBody>
          <a:bodyPr wrap="square" lIns="0" tIns="0" rIns="0" bIns="0" rtlCol="0" anchor="ctr"/>
          <a:lstStyle/>
          <a:p>
            <a:pPr indent="0" marL="0">
              <a:buNone/>
            </a:pPr>
            <a:r>
              <a:rPr lang="en-US" sz="1800" b="1" dirty="0">
                <a:solidFill>
                  <a:srgbClr val="12324A"/>
                </a:solidFill>
                <a:latin typeface="メイリオ" pitchFamily="34" charset="0"/>
                <a:ea typeface="メイリオ" pitchFamily="34" charset="-122"/>
                <a:cs typeface="メイリオ" pitchFamily="34" charset="-120"/>
              </a:rPr>
              <a:t>代理意思決定者を巻き込む</a:t>
            </a:r>
            <a:endParaRPr lang="en-US" sz="1800" dirty="0"/>
          </a:p>
        </p:txBody>
      </p:sp>
      <p:sp>
        <p:nvSpPr>
          <p:cNvPr id="16" name="Text 14"/>
          <p:cNvSpPr/>
          <p:nvPr/>
        </p:nvSpPr>
        <p:spPr>
          <a:xfrm>
            <a:off x="731520" y="4142232"/>
            <a:ext cx="7955280" cy="457200"/>
          </a:xfrm>
          <a:prstGeom prst="rect">
            <a:avLst/>
          </a:prstGeom>
          <a:noFill/>
          <a:ln/>
        </p:spPr>
        <p:txBody>
          <a:bodyPr wrap="square" lIns="0" tIns="0" rIns="0" bIns="0" rtlCol="0" anchor="ctr"/>
          <a:lstStyle/>
          <a:p>
            <a:pPr indent="0" marL="0">
              <a:buNone/>
            </a:pPr>
            <a:r>
              <a:rPr lang="en-US" sz="1500" dirty="0">
                <a:solidFill>
                  <a:srgbClr val="12324A"/>
                </a:solidFill>
                <a:latin typeface="メイリオ" pitchFamily="34" charset="0"/>
                <a:ea typeface="メイリオ" pitchFamily="34" charset="-122"/>
                <a:cs typeface="メイリオ" pitchFamily="34" charset="-120"/>
              </a:rPr>
              <a:t>意思を伝えられなくなったとき代わりに考える人は誰か。できれば同席で</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17</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記録と共有：6つの項目</a:t>
            </a:r>
            <a:endParaRPr lang="en-US" sz="3000" dirty="0"/>
          </a:p>
        </p:txBody>
      </p:sp>
      <p:sp>
        <p:nvSpPr>
          <p:cNvPr id="5" name="Text 3"/>
          <p:cNvSpPr/>
          <p:nvPr/>
        </p:nvSpPr>
        <p:spPr>
          <a:xfrm>
            <a:off x="457200" y="841248"/>
            <a:ext cx="8229600" cy="384048"/>
          </a:xfrm>
          <a:prstGeom prst="rect">
            <a:avLst/>
          </a:prstGeom>
          <a:noFill/>
          <a:ln/>
        </p:spPr>
        <p:txBody>
          <a:bodyPr wrap="square" lIns="0" tIns="0" rIns="0" bIns="0" rtlCol="0" anchor="ctr"/>
          <a:lstStyle/>
          <a:p>
            <a:pPr indent="0" marL="0">
              <a:buNone/>
            </a:pPr>
            <a:r>
              <a:rPr lang="en-US" sz="1700" dirty="0">
                <a:solidFill>
                  <a:srgbClr val="12324A"/>
                </a:solidFill>
                <a:latin typeface="メイリオ" pitchFamily="34" charset="0"/>
                <a:ea typeface="メイリオ" pitchFamily="34" charset="-122"/>
                <a:cs typeface="メイリオ" pitchFamily="34" charset="-120"/>
              </a:rPr>
              <a:t>多職種・他院でも使える形で残す</a:t>
            </a:r>
            <a:endParaRPr lang="en-US" sz="1700" dirty="0"/>
          </a:p>
        </p:txBody>
      </p:sp>
      <p:sp>
        <p:nvSpPr>
          <p:cNvPr id="6" name="Shape 4"/>
          <p:cNvSpPr/>
          <p:nvPr/>
        </p:nvSpPr>
        <p:spPr>
          <a:xfrm>
            <a:off x="457200" y="1371600"/>
            <a:ext cx="2926080" cy="457200"/>
          </a:xfrm>
          <a:prstGeom prst="rect">
            <a:avLst/>
          </a:prstGeom>
          <a:solidFill>
            <a:srgbClr val="1E4A6E"/>
          </a:solidFill>
          <a:ln w="15875">
            <a:solidFill>
              <a:srgbClr val="1E4A6E"/>
            </a:solidFill>
            <a:prstDash val="solid"/>
          </a:ln>
        </p:spPr>
      </p:sp>
      <p:sp>
        <p:nvSpPr>
          <p:cNvPr id="7" name="Text 5"/>
          <p:cNvSpPr/>
          <p:nvPr/>
        </p:nvSpPr>
        <p:spPr>
          <a:xfrm>
            <a:off x="594360" y="1371600"/>
            <a:ext cx="2743200" cy="457200"/>
          </a:xfrm>
          <a:prstGeom prst="rect">
            <a:avLst/>
          </a:prstGeom>
          <a:noFill/>
          <a:ln/>
        </p:spPr>
        <p:txBody>
          <a:bodyPr wrap="square" lIns="0" tIns="0" rIns="0" bIns="0"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楽しみ・生きがい</a:t>
            </a:r>
            <a:endParaRPr lang="en-US" sz="1500" dirty="0"/>
          </a:p>
        </p:txBody>
      </p:sp>
      <p:sp>
        <p:nvSpPr>
          <p:cNvPr id="8" name="Shape 6"/>
          <p:cNvSpPr/>
          <p:nvPr/>
        </p:nvSpPr>
        <p:spPr>
          <a:xfrm>
            <a:off x="3383280" y="1371600"/>
            <a:ext cx="5303520" cy="457200"/>
          </a:xfrm>
          <a:prstGeom prst="rect">
            <a:avLst/>
          </a:prstGeom>
          <a:solidFill>
            <a:srgbClr val="EAF2F7"/>
          </a:solidFill>
          <a:ln w="15875">
            <a:solidFill>
              <a:srgbClr val="EAF2F7"/>
            </a:solidFill>
            <a:prstDash val="solid"/>
          </a:ln>
        </p:spPr>
      </p:sp>
      <p:sp>
        <p:nvSpPr>
          <p:cNvPr id="9" name="Text 7"/>
          <p:cNvSpPr/>
          <p:nvPr/>
        </p:nvSpPr>
        <p:spPr>
          <a:xfrm>
            <a:off x="3566160" y="1371600"/>
            <a:ext cx="5029200" cy="457200"/>
          </a:xfrm>
          <a:prstGeom prst="rect">
            <a:avLst/>
          </a:prstGeom>
          <a:noFill/>
          <a:ln/>
        </p:spPr>
        <p:txBody>
          <a:bodyPr wrap="square" lIns="0" tIns="0" rIns="0" bIns="0" rtlCol="0" anchor="ctr"/>
          <a:lstStyle/>
          <a:p>
            <a:pPr indent="0" marL="0">
              <a:buNone/>
            </a:pPr>
            <a:r>
              <a:rPr lang="en-US" sz="1500" dirty="0">
                <a:solidFill>
                  <a:srgbClr val="12324A"/>
                </a:solidFill>
                <a:latin typeface="メイリオ" pitchFamily="34" charset="0"/>
                <a:ea typeface="メイリオ" pitchFamily="34" charset="-122"/>
                <a:cs typeface="メイリオ" pitchFamily="34" charset="-120"/>
              </a:rPr>
              <a:t>孫と電話で話すこと。庭の手入れ</a:t>
            </a:r>
            <a:endParaRPr lang="en-US" sz="1500" dirty="0"/>
          </a:p>
        </p:txBody>
      </p:sp>
      <p:sp>
        <p:nvSpPr>
          <p:cNvPr id="10" name="Shape 8"/>
          <p:cNvSpPr/>
          <p:nvPr/>
        </p:nvSpPr>
        <p:spPr>
          <a:xfrm>
            <a:off x="457200" y="1901952"/>
            <a:ext cx="2926080" cy="457200"/>
          </a:xfrm>
          <a:prstGeom prst="rect">
            <a:avLst/>
          </a:prstGeom>
          <a:solidFill>
            <a:srgbClr val="1E4A6E"/>
          </a:solidFill>
          <a:ln w="15875">
            <a:solidFill>
              <a:srgbClr val="1E4A6E"/>
            </a:solidFill>
            <a:prstDash val="solid"/>
          </a:ln>
        </p:spPr>
      </p:sp>
      <p:sp>
        <p:nvSpPr>
          <p:cNvPr id="11" name="Text 9"/>
          <p:cNvSpPr/>
          <p:nvPr/>
        </p:nvSpPr>
        <p:spPr>
          <a:xfrm>
            <a:off x="594360" y="1901952"/>
            <a:ext cx="2743200" cy="457200"/>
          </a:xfrm>
          <a:prstGeom prst="rect">
            <a:avLst/>
          </a:prstGeom>
          <a:noFill/>
          <a:ln/>
        </p:spPr>
        <p:txBody>
          <a:bodyPr wrap="square" lIns="0" tIns="0" rIns="0" bIns="0"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気がかり</a:t>
            </a:r>
            <a:endParaRPr lang="en-US" sz="1500" dirty="0"/>
          </a:p>
        </p:txBody>
      </p:sp>
      <p:sp>
        <p:nvSpPr>
          <p:cNvPr id="12" name="Shape 10"/>
          <p:cNvSpPr/>
          <p:nvPr/>
        </p:nvSpPr>
        <p:spPr>
          <a:xfrm>
            <a:off x="3383280" y="1901952"/>
            <a:ext cx="5303520" cy="457200"/>
          </a:xfrm>
          <a:prstGeom prst="rect">
            <a:avLst/>
          </a:prstGeom>
          <a:solidFill>
            <a:srgbClr val="EAF2F7"/>
          </a:solidFill>
          <a:ln w="15875">
            <a:solidFill>
              <a:srgbClr val="EAF2F7"/>
            </a:solidFill>
            <a:prstDash val="solid"/>
          </a:ln>
        </p:spPr>
      </p:sp>
      <p:sp>
        <p:nvSpPr>
          <p:cNvPr id="13" name="Text 11"/>
          <p:cNvSpPr/>
          <p:nvPr/>
        </p:nvSpPr>
        <p:spPr>
          <a:xfrm>
            <a:off x="3566160" y="1901952"/>
            <a:ext cx="5029200" cy="457200"/>
          </a:xfrm>
          <a:prstGeom prst="rect">
            <a:avLst/>
          </a:prstGeom>
          <a:noFill/>
          <a:ln/>
        </p:spPr>
        <p:txBody>
          <a:bodyPr wrap="square" lIns="0" tIns="0" rIns="0" bIns="0" rtlCol="0" anchor="ctr"/>
          <a:lstStyle/>
          <a:p>
            <a:pPr indent="0" marL="0">
              <a:buNone/>
            </a:pPr>
            <a:r>
              <a:rPr lang="en-US" sz="1500" dirty="0">
                <a:solidFill>
                  <a:srgbClr val="12324A"/>
                </a:solidFill>
                <a:latin typeface="メイリオ" pitchFamily="34" charset="0"/>
                <a:ea typeface="メイリオ" pitchFamily="34" charset="-122"/>
                <a:cs typeface="メイリオ" pitchFamily="34" charset="-120"/>
              </a:rPr>
              <a:t>娘に介護で負担をかけること。苦しい最期</a:t>
            </a:r>
            <a:endParaRPr lang="en-US" sz="1500" dirty="0"/>
          </a:p>
        </p:txBody>
      </p:sp>
      <p:sp>
        <p:nvSpPr>
          <p:cNvPr id="14" name="Shape 12"/>
          <p:cNvSpPr/>
          <p:nvPr/>
        </p:nvSpPr>
        <p:spPr>
          <a:xfrm>
            <a:off x="457200" y="2432304"/>
            <a:ext cx="2926080" cy="457200"/>
          </a:xfrm>
          <a:prstGeom prst="rect">
            <a:avLst/>
          </a:prstGeom>
          <a:solidFill>
            <a:srgbClr val="B23A2B"/>
          </a:solidFill>
          <a:ln w="15875">
            <a:solidFill>
              <a:srgbClr val="B23A2B"/>
            </a:solidFill>
            <a:prstDash val="solid"/>
          </a:ln>
        </p:spPr>
      </p:sp>
      <p:sp>
        <p:nvSpPr>
          <p:cNvPr id="15" name="Text 13"/>
          <p:cNvSpPr/>
          <p:nvPr/>
        </p:nvSpPr>
        <p:spPr>
          <a:xfrm>
            <a:off x="594360" y="2432304"/>
            <a:ext cx="2743200" cy="457200"/>
          </a:xfrm>
          <a:prstGeom prst="rect">
            <a:avLst/>
          </a:prstGeom>
          <a:noFill/>
          <a:ln/>
        </p:spPr>
        <p:txBody>
          <a:bodyPr wrap="square" lIns="0" tIns="0" rIns="0" bIns="0"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下限ライン（本人の言葉）</a:t>
            </a:r>
            <a:endParaRPr lang="en-US" sz="1500" dirty="0"/>
          </a:p>
        </p:txBody>
      </p:sp>
      <p:sp>
        <p:nvSpPr>
          <p:cNvPr id="16" name="Shape 14"/>
          <p:cNvSpPr/>
          <p:nvPr/>
        </p:nvSpPr>
        <p:spPr>
          <a:xfrm>
            <a:off x="3383280" y="2432304"/>
            <a:ext cx="5303520" cy="457200"/>
          </a:xfrm>
          <a:prstGeom prst="rect">
            <a:avLst/>
          </a:prstGeom>
          <a:solidFill>
            <a:srgbClr val="FBF0E4"/>
          </a:solidFill>
          <a:ln w="15875">
            <a:solidFill>
              <a:srgbClr val="FBF0E4"/>
            </a:solidFill>
            <a:prstDash val="solid"/>
          </a:ln>
        </p:spPr>
      </p:sp>
      <p:sp>
        <p:nvSpPr>
          <p:cNvPr id="17" name="Text 15"/>
          <p:cNvSpPr/>
          <p:nvPr/>
        </p:nvSpPr>
        <p:spPr>
          <a:xfrm>
            <a:off x="3566160" y="2432304"/>
            <a:ext cx="5029200" cy="457200"/>
          </a:xfrm>
          <a:prstGeom prst="rect">
            <a:avLst/>
          </a:prstGeom>
          <a:noFill/>
          <a:ln/>
        </p:spPr>
        <p:txBody>
          <a:bodyPr wrap="square" lIns="0" tIns="0" rIns="0" bIns="0" rtlCol="0" anchor="ctr"/>
          <a:lstStyle/>
          <a:p>
            <a:pPr indent="0" marL="0">
              <a:buNone/>
            </a:pPr>
            <a:r>
              <a:rPr lang="en-US" sz="1500" b="1" dirty="0">
                <a:solidFill>
                  <a:srgbClr val="12324A"/>
                </a:solidFill>
                <a:latin typeface="メイリオ" pitchFamily="34" charset="0"/>
                <a:ea typeface="メイリオ" pitchFamily="34" charset="-122"/>
                <a:cs typeface="メイリオ" pitchFamily="34" charset="-120"/>
              </a:rPr>
              <a:t>「話ができなくなったら、機械で生かしてほしくない」</a:t>
            </a:r>
            <a:endParaRPr lang="en-US" sz="1500" dirty="0"/>
          </a:p>
        </p:txBody>
      </p:sp>
      <p:sp>
        <p:nvSpPr>
          <p:cNvPr id="18" name="Shape 16"/>
          <p:cNvSpPr/>
          <p:nvPr/>
        </p:nvSpPr>
        <p:spPr>
          <a:xfrm>
            <a:off x="457200" y="2962656"/>
            <a:ext cx="2926080" cy="457200"/>
          </a:xfrm>
          <a:prstGeom prst="rect">
            <a:avLst/>
          </a:prstGeom>
          <a:solidFill>
            <a:srgbClr val="1E4A6E"/>
          </a:solidFill>
          <a:ln w="15875">
            <a:solidFill>
              <a:srgbClr val="1E4A6E"/>
            </a:solidFill>
            <a:prstDash val="solid"/>
          </a:ln>
        </p:spPr>
      </p:sp>
      <p:sp>
        <p:nvSpPr>
          <p:cNvPr id="19" name="Text 17"/>
          <p:cNvSpPr/>
          <p:nvPr/>
        </p:nvSpPr>
        <p:spPr>
          <a:xfrm>
            <a:off x="594360" y="2962656"/>
            <a:ext cx="2743200" cy="457200"/>
          </a:xfrm>
          <a:prstGeom prst="rect">
            <a:avLst/>
          </a:prstGeom>
          <a:noFill/>
          <a:ln/>
        </p:spPr>
        <p:txBody>
          <a:bodyPr wrap="square" lIns="0" tIns="0" rIns="0" bIns="0"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その背景</a:t>
            </a:r>
            <a:endParaRPr lang="en-US" sz="1500" dirty="0"/>
          </a:p>
        </p:txBody>
      </p:sp>
      <p:sp>
        <p:nvSpPr>
          <p:cNvPr id="20" name="Shape 18"/>
          <p:cNvSpPr/>
          <p:nvPr/>
        </p:nvSpPr>
        <p:spPr>
          <a:xfrm>
            <a:off x="3383280" y="2962656"/>
            <a:ext cx="5303520" cy="457200"/>
          </a:xfrm>
          <a:prstGeom prst="rect">
            <a:avLst/>
          </a:prstGeom>
          <a:solidFill>
            <a:srgbClr val="EAF2F7"/>
          </a:solidFill>
          <a:ln w="15875">
            <a:solidFill>
              <a:srgbClr val="EAF2F7"/>
            </a:solidFill>
            <a:prstDash val="solid"/>
          </a:ln>
        </p:spPr>
      </p:sp>
      <p:sp>
        <p:nvSpPr>
          <p:cNvPr id="21" name="Text 19"/>
          <p:cNvSpPr/>
          <p:nvPr/>
        </p:nvSpPr>
        <p:spPr>
          <a:xfrm>
            <a:off x="3566160" y="2962656"/>
            <a:ext cx="5029200" cy="457200"/>
          </a:xfrm>
          <a:prstGeom prst="rect">
            <a:avLst/>
          </a:prstGeom>
          <a:noFill/>
          <a:ln/>
        </p:spPr>
        <p:txBody>
          <a:bodyPr wrap="square" lIns="0" tIns="0" rIns="0" bIns="0" rtlCol="0" anchor="ctr"/>
          <a:lstStyle/>
          <a:p>
            <a:pPr indent="0" marL="0">
              <a:buNone/>
            </a:pPr>
            <a:r>
              <a:rPr lang="en-US" sz="1500" dirty="0">
                <a:solidFill>
                  <a:srgbClr val="12324A"/>
                </a:solidFill>
                <a:latin typeface="メイリオ" pitchFamily="34" charset="0"/>
                <a:ea typeface="メイリオ" pitchFamily="34" charset="-122"/>
                <a:cs typeface="メイリオ" pitchFamily="34" charset="-120"/>
              </a:rPr>
              <a:t>母が意思疎通できないまま長く寝たきりだった経験</a:t>
            </a:r>
            <a:endParaRPr lang="en-US" sz="1500" dirty="0"/>
          </a:p>
        </p:txBody>
      </p:sp>
      <p:sp>
        <p:nvSpPr>
          <p:cNvPr id="22" name="Shape 20"/>
          <p:cNvSpPr/>
          <p:nvPr/>
        </p:nvSpPr>
        <p:spPr>
          <a:xfrm>
            <a:off x="457200" y="3493008"/>
            <a:ext cx="2926080" cy="457200"/>
          </a:xfrm>
          <a:prstGeom prst="rect">
            <a:avLst/>
          </a:prstGeom>
          <a:solidFill>
            <a:srgbClr val="1E4A6E"/>
          </a:solidFill>
          <a:ln w="15875">
            <a:solidFill>
              <a:srgbClr val="1E4A6E"/>
            </a:solidFill>
            <a:prstDash val="solid"/>
          </a:ln>
        </p:spPr>
      </p:sp>
      <p:sp>
        <p:nvSpPr>
          <p:cNvPr id="23" name="Text 21"/>
          <p:cNvSpPr/>
          <p:nvPr/>
        </p:nvSpPr>
        <p:spPr>
          <a:xfrm>
            <a:off x="594360" y="3493008"/>
            <a:ext cx="2743200" cy="457200"/>
          </a:xfrm>
          <a:prstGeom prst="rect">
            <a:avLst/>
          </a:prstGeom>
          <a:noFill/>
          <a:ln/>
        </p:spPr>
        <p:txBody>
          <a:bodyPr wrap="square" lIns="0" tIns="0" rIns="0" bIns="0"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代理意思決定者・同席者</a:t>
            </a:r>
            <a:endParaRPr lang="en-US" sz="1500" dirty="0"/>
          </a:p>
        </p:txBody>
      </p:sp>
      <p:sp>
        <p:nvSpPr>
          <p:cNvPr id="24" name="Shape 22"/>
          <p:cNvSpPr/>
          <p:nvPr/>
        </p:nvSpPr>
        <p:spPr>
          <a:xfrm>
            <a:off x="3383280" y="3493008"/>
            <a:ext cx="5303520" cy="457200"/>
          </a:xfrm>
          <a:prstGeom prst="rect">
            <a:avLst/>
          </a:prstGeom>
          <a:solidFill>
            <a:srgbClr val="EAF2F7"/>
          </a:solidFill>
          <a:ln w="15875">
            <a:solidFill>
              <a:srgbClr val="EAF2F7"/>
            </a:solidFill>
            <a:prstDash val="solid"/>
          </a:ln>
        </p:spPr>
      </p:sp>
      <p:sp>
        <p:nvSpPr>
          <p:cNvPr id="25" name="Text 23"/>
          <p:cNvSpPr/>
          <p:nvPr/>
        </p:nvSpPr>
        <p:spPr>
          <a:xfrm>
            <a:off x="3566160" y="3493008"/>
            <a:ext cx="5029200" cy="457200"/>
          </a:xfrm>
          <a:prstGeom prst="rect">
            <a:avLst/>
          </a:prstGeom>
          <a:noFill/>
          <a:ln/>
        </p:spPr>
        <p:txBody>
          <a:bodyPr wrap="square" lIns="0" tIns="0" rIns="0" bIns="0" rtlCol="0" anchor="ctr"/>
          <a:lstStyle/>
          <a:p>
            <a:pPr indent="0" marL="0">
              <a:buNone/>
            </a:pPr>
            <a:r>
              <a:rPr lang="en-US" sz="1500" dirty="0">
                <a:solidFill>
                  <a:srgbClr val="12324A"/>
                </a:solidFill>
                <a:latin typeface="メイリオ" pitchFamily="34" charset="0"/>
                <a:ea typeface="メイリオ" pitchFamily="34" charset="-122"/>
                <a:cs typeface="メイリオ" pitchFamily="34" charset="-120"/>
              </a:rPr>
              <a:t>長女（同席）</a:t>
            </a:r>
            <a:endParaRPr lang="en-US" sz="1500" dirty="0"/>
          </a:p>
        </p:txBody>
      </p:sp>
      <p:sp>
        <p:nvSpPr>
          <p:cNvPr id="26" name="Shape 24"/>
          <p:cNvSpPr/>
          <p:nvPr/>
        </p:nvSpPr>
        <p:spPr>
          <a:xfrm>
            <a:off x="457200" y="4023360"/>
            <a:ext cx="2926080" cy="457200"/>
          </a:xfrm>
          <a:prstGeom prst="rect">
            <a:avLst/>
          </a:prstGeom>
          <a:solidFill>
            <a:srgbClr val="1E4A6E"/>
          </a:solidFill>
          <a:ln w="15875">
            <a:solidFill>
              <a:srgbClr val="1E4A6E"/>
            </a:solidFill>
            <a:prstDash val="solid"/>
          </a:ln>
        </p:spPr>
      </p:sp>
      <p:sp>
        <p:nvSpPr>
          <p:cNvPr id="27" name="Text 25"/>
          <p:cNvSpPr/>
          <p:nvPr/>
        </p:nvSpPr>
        <p:spPr>
          <a:xfrm>
            <a:off x="594360" y="4023360"/>
            <a:ext cx="2743200" cy="457200"/>
          </a:xfrm>
          <a:prstGeom prst="rect">
            <a:avLst/>
          </a:prstGeom>
          <a:noFill/>
          <a:ln/>
        </p:spPr>
        <p:txBody>
          <a:bodyPr wrap="square" lIns="0" tIns="0" rIns="0" bIns="0"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日付・次回確認</a:t>
            </a:r>
            <a:endParaRPr lang="en-US" sz="1500" dirty="0"/>
          </a:p>
        </p:txBody>
      </p:sp>
      <p:sp>
        <p:nvSpPr>
          <p:cNvPr id="28" name="Shape 26"/>
          <p:cNvSpPr/>
          <p:nvPr/>
        </p:nvSpPr>
        <p:spPr>
          <a:xfrm>
            <a:off x="3383280" y="4023360"/>
            <a:ext cx="5303520" cy="457200"/>
          </a:xfrm>
          <a:prstGeom prst="rect">
            <a:avLst/>
          </a:prstGeom>
          <a:solidFill>
            <a:srgbClr val="EAF2F7"/>
          </a:solidFill>
          <a:ln w="15875">
            <a:solidFill>
              <a:srgbClr val="EAF2F7"/>
            </a:solidFill>
            <a:prstDash val="solid"/>
          </a:ln>
        </p:spPr>
      </p:sp>
      <p:sp>
        <p:nvSpPr>
          <p:cNvPr id="29" name="Text 27"/>
          <p:cNvSpPr/>
          <p:nvPr/>
        </p:nvSpPr>
        <p:spPr>
          <a:xfrm>
            <a:off x="3566160" y="4023360"/>
            <a:ext cx="5029200" cy="457200"/>
          </a:xfrm>
          <a:prstGeom prst="rect">
            <a:avLst/>
          </a:prstGeom>
          <a:noFill/>
          <a:ln/>
        </p:spPr>
        <p:txBody>
          <a:bodyPr wrap="square" lIns="0" tIns="0" rIns="0" bIns="0" rtlCol="0" anchor="ctr"/>
          <a:lstStyle/>
          <a:p>
            <a:pPr indent="0" marL="0">
              <a:buNone/>
            </a:pPr>
            <a:r>
              <a:rPr lang="en-US" sz="1500" dirty="0">
                <a:solidFill>
                  <a:srgbClr val="12324A"/>
                </a:solidFill>
                <a:latin typeface="メイリオ" pitchFamily="34" charset="0"/>
                <a:ea typeface="メイリオ" pitchFamily="34" charset="-122"/>
                <a:cs typeface="メイリオ" pitchFamily="34" charset="-120"/>
              </a:rPr>
              <a:t>2026/9/25　次回：退院前カンファレンス</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18</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まとめ</a:t>
            </a:r>
            <a:endParaRPr lang="en-US" sz="3000" dirty="0"/>
          </a:p>
        </p:txBody>
      </p:sp>
      <p:sp>
        <p:nvSpPr>
          <p:cNvPr id="5" name="Shape 3"/>
          <p:cNvSpPr/>
          <p:nvPr/>
        </p:nvSpPr>
        <p:spPr>
          <a:xfrm>
            <a:off x="457200" y="1170432"/>
            <a:ext cx="457200" cy="457200"/>
          </a:xfrm>
          <a:prstGeom prst="ellipse">
            <a:avLst/>
          </a:prstGeom>
          <a:solidFill>
            <a:srgbClr val="1E4A6E"/>
          </a:solidFill>
          <a:ln w="12700">
            <a:solidFill>
              <a:srgbClr val="1E4A6E"/>
            </a:solidFill>
            <a:prstDash val="solid"/>
          </a:ln>
        </p:spPr>
      </p:sp>
      <p:sp>
        <p:nvSpPr>
          <p:cNvPr id="6" name="Text 4"/>
          <p:cNvSpPr/>
          <p:nvPr/>
        </p:nvSpPr>
        <p:spPr>
          <a:xfrm>
            <a:off x="457200" y="11704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メイリオ" pitchFamily="34" charset="0"/>
                <a:ea typeface="メイリオ" pitchFamily="34" charset="-122"/>
                <a:cs typeface="メイリオ" pitchFamily="34" charset="-120"/>
              </a:rPr>
              <a:t>1</a:t>
            </a:r>
            <a:endParaRPr lang="en-US" sz="1800" dirty="0"/>
          </a:p>
        </p:txBody>
      </p:sp>
      <p:sp>
        <p:nvSpPr>
          <p:cNvPr id="7" name="Text 5"/>
          <p:cNvSpPr/>
          <p:nvPr/>
        </p:nvSpPr>
        <p:spPr>
          <a:xfrm>
            <a:off x="1143000" y="1097280"/>
            <a:ext cx="7543800" cy="603504"/>
          </a:xfrm>
          <a:prstGeom prst="rect">
            <a:avLst/>
          </a:prstGeom>
          <a:noFill/>
          <a:ln/>
        </p:spPr>
        <p:txBody>
          <a:bodyPr wrap="square" lIns="0" tIns="0" rIns="0" bIns="0" rtlCol="0" anchor="ctr"/>
          <a:lstStyle/>
          <a:p>
            <a:pPr indent="0" marL="0">
              <a:buNone/>
            </a:pPr>
            <a:r>
              <a:rPr lang="en-US" sz="1900" dirty="0">
                <a:solidFill>
                  <a:srgbClr val="12324A"/>
                </a:solidFill>
                <a:latin typeface="メイリオ" pitchFamily="34" charset="0"/>
                <a:ea typeface="メイリオ" pitchFamily="34" charset="-122"/>
                <a:cs typeface="メイリオ" pitchFamily="34" charset="-120"/>
              </a:rPr>
              <a:t>話題は </a:t>
            </a:r>
            <a:pPr indent="0" marL="0">
              <a:buNone/>
            </a:pPr>
            <a:r>
              <a:rPr lang="en-US" sz="1900" b="1" dirty="0">
                <a:solidFill>
                  <a:srgbClr val="12324A"/>
                </a:solidFill>
                <a:latin typeface="メイリオ" pitchFamily="34" charset="0"/>
                <a:ea typeface="メイリオ" pitchFamily="34" charset="-122"/>
                <a:cs typeface="メイリオ" pitchFamily="34" charset="-120"/>
              </a:rPr>
              <a:t>楽しみ → 生きがい → 気がかり → 生きている意味がない</a:t>
            </a:r>
            <a:pPr indent="0" marL="0">
              <a:buNone/>
            </a:pPr>
            <a:r>
              <a:rPr lang="en-US" sz="1900" dirty="0">
                <a:solidFill>
                  <a:srgbClr val="12324A"/>
                </a:solidFill>
                <a:latin typeface="メイリオ" pitchFamily="34" charset="0"/>
                <a:ea typeface="メイリオ" pitchFamily="34" charset="-122"/>
                <a:cs typeface="メイリオ" pitchFamily="34" charset="-120"/>
              </a:rPr>
              <a:t> の順に</a:t>
            </a:r>
            <a:endParaRPr lang="en-US" sz="1800" dirty="0"/>
          </a:p>
        </p:txBody>
      </p:sp>
      <p:sp>
        <p:nvSpPr>
          <p:cNvPr id="8" name="Shape 6"/>
          <p:cNvSpPr/>
          <p:nvPr/>
        </p:nvSpPr>
        <p:spPr>
          <a:xfrm>
            <a:off x="457200" y="1883664"/>
            <a:ext cx="457200" cy="457200"/>
          </a:xfrm>
          <a:prstGeom prst="ellipse">
            <a:avLst/>
          </a:prstGeom>
          <a:solidFill>
            <a:srgbClr val="1E4A6E"/>
          </a:solidFill>
          <a:ln w="12700">
            <a:solidFill>
              <a:srgbClr val="1E4A6E"/>
            </a:solidFill>
            <a:prstDash val="solid"/>
          </a:ln>
        </p:spPr>
      </p:sp>
      <p:sp>
        <p:nvSpPr>
          <p:cNvPr id="9" name="Text 7"/>
          <p:cNvSpPr/>
          <p:nvPr/>
        </p:nvSpPr>
        <p:spPr>
          <a:xfrm>
            <a:off x="457200" y="188366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メイリオ" pitchFamily="34" charset="0"/>
                <a:ea typeface="メイリオ" pitchFamily="34" charset="-122"/>
                <a:cs typeface="メイリオ" pitchFamily="34" charset="-120"/>
              </a:rPr>
              <a:t>2</a:t>
            </a:r>
            <a:endParaRPr lang="en-US" sz="1800" dirty="0"/>
          </a:p>
        </p:txBody>
      </p:sp>
      <p:sp>
        <p:nvSpPr>
          <p:cNvPr id="10" name="Text 8"/>
          <p:cNvSpPr/>
          <p:nvPr/>
        </p:nvSpPr>
        <p:spPr>
          <a:xfrm>
            <a:off x="1143000" y="1810512"/>
            <a:ext cx="7543800" cy="603504"/>
          </a:xfrm>
          <a:prstGeom prst="rect">
            <a:avLst/>
          </a:prstGeom>
          <a:noFill/>
          <a:ln/>
        </p:spPr>
        <p:txBody>
          <a:bodyPr wrap="square" lIns="0" tIns="0" rIns="0" bIns="0" rtlCol="0" anchor="ctr"/>
          <a:lstStyle/>
          <a:p>
            <a:pPr indent="0" marL="0">
              <a:buNone/>
            </a:pPr>
            <a:r>
              <a:rPr lang="en-US" sz="1900" dirty="0">
                <a:solidFill>
                  <a:srgbClr val="12324A"/>
                </a:solidFill>
                <a:latin typeface="メイリオ" pitchFamily="34" charset="0"/>
                <a:ea typeface="メイリオ" pitchFamily="34" charset="-122"/>
                <a:cs typeface="メイリオ" pitchFamily="34" charset="-120"/>
              </a:rPr>
              <a:t>各回答を </a:t>
            </a:r>
            <a:pPr indent="0" marL="0">
              <a:buNone/>
            </a:pPr>
            <a:r>
              <a:rPr lang="en-US" sz="1900" b="1" dirty="0">
                <a:solidFill>
                  <a:srgbClr val="12324A"/>
                </a:solidFill>
                <a:latin typeface="メイリオ" pitchFamily="34" charset="0"/>
                <a:ea typeface="メイリオ" pitchFamily="34" charset="-122"/>
                <a:cs typeface="メイリオ" pitchFamily="34" charset="-120"/>
              </a:rPr>
              <a:t>Tell me more / Why? / What else?</a:t>
            </a:r>
            <a:pPr indent="0" marL="0">
              <a:buNone/>
            </a:pPr>
            <a:r>
              <a:rPr lang="en-US" sz="1900" dirty="0">
                <a:solidFill>
                  <a:srgbClr val="12324A"/>
                </a:solidFill>
                <a:latin typeface="メイリオ" pitchFamily="34" charset="0"/>
                <a:ea typeface="メイリオ" pitchFamily="34" charset="-122"/>
                <a:cs typeface="メイリオ" pitchFamily="34" charset="-120"/>
              </a:rPr>
              <a:t> で本人固有の理由まで掘る</a:t>
            </a:r>
            <a:endParaRPr lang="en-US" sz="1800" dirty="0"/>
          </a:p>
        </p:txBody>
      </p:sp>
      <p:sp>
        <p:nvSpPr>
          <p:cNvPr id="11" name="Shape 9"/>
          <p:cNvSpPr/>
          <p:nvPr/>
        </p:nvSpPr>
        <p:spPr>
          <a:xfrm>
            <a:off x="457200" y="2596896"/>
            <a:ext cx="457200" cy="457200"/>
          </a:xfrm>
          <a:prstGeom prst="ellipse">
            <a:avLst/>
          </a:prstGeom>
          <a:solidFill>
            <a:srgbClr val="1E4A6E"/>
          </a:solidFill>
          <a:ln w="12700">
            <a:solidFill>
              <a:srgbClr val="1E4A6E"/>
            </a:solidFill>
            <a:prstDash val="solid"/>
          </a:ln>
        </p:spPr>
      </p:sp>
      <p:sp>
        <p:nvSpPr>
          <p:cNvPr id="12" name="Text 10"/>
          <p:cNvSpPr/>
          <p:nvPr/>
        </p:nvSpPr>
        <p:spPr>
          <a:xfrm>
            <a:off x="457200" y="259689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メイリオ" pitchFamily="34" charset="0"/>
                <a:ea typeface="メイリオ" pitchFamily="34" charset="-122"/>
                <a:cs typeface="メイリオ" pitchFamily="34" charset="-120"/>
              </a:rPr>
              <a:t>3</a:t>
            </a:r>
            <a:endParaRPr lang="en-US" sz="1800" dirty="0"/>
          </a:p>
        </p:txBody>
      </p:sp>
      <p:sp>
        <p:nvSpPr>
          <p:cNvPr id="13" name="Text 11"/>
          <p:cNvSpPr/>
          <p:nvPr/>
        </p:nvSpPr>
        <p:spPr>
          <a:xfrm>
            <a:off x="1143000" y="2523744"/>
            <a:ext cx="7543800" cy="603504"/>
          </a:xfrm>
          <a:prstGeom prst="rect">
            <a:avLst/>
          </a:prstGeom>
          <a:noFill/>
          <a:ln/>
        </p:spPr>
        <p:txBody>
          <a:bodyPr wrap="square" lIns="0" tIns="0" rIns="0" bIns="0" rtlCol="0" anchor="ctr"/>
          <a:lstStyle/>
          <a:p>
            <a:pPr indent="0" marL="0">
              <a:buNone/>
            </a:pPr>
            <a:r>
              <a:rPr lang="en-US" sz="1900" dirty="0">
                <a:solidFill>
                  <a:srgbClr val="12324A"/>
                </a:solidFill>
                <a:latin typeface="メイリオ" pitchFamily="34" charset="0"/>
                <a:ea typeface="メイリオ" pitchFamily="34" charset="-122"/>
                <a:cs typeface="メイリオ" pitchFamily="34" charset="-120"/>
              </a:rPr>
              <a:t>ゴールは </a:t>
            </a:r>
            <a:pPr indent="0" marL="0">
              <a:buNone/>
            </a:pPr>
            <a:r>
              <a:rPr lang="en-US" sz="1900" b="1" dirty="0">
                <a:solidFill>
                  <a:srgbClr val="C9661A"/>
                </a:solidFill>
                <a:latin typeface="メイリオ" pitchFamily="34" charset="0"/>
                <a:ea typeface="メイリオ" pitchFamily="34" charset="-122"/>
                <a:cs typeface="メイリオ" pitchFamily="34" charset="-120"/>
              </a:rPr>
              <a:t>下限ラインの位置</a:t>
            </a:r>
            <a:pPr indent="0" marL="0">
              <a:buNone/>
            </a:pPr>
            <a:r>
              <a:rPr lang="en-US" sz="1900" dirty="0">
                <a:solidFill>
                  <a:srgbClr val="12324A"/>
                </a:solidFill>
                <a:latin typeface="メイリオ" pitchFamily="34" charset="0"/>
                <a:ea typeface="メイリオ" pitchFamily="34" charset="-122"/>
                <a:cs typeface="メイリオ" pitchFamily="34" charset="-120"/>
              </a:rPr>
              <a:t> を本人の言葉で確定させること</a:t>
            </a:r>
            <a:endParaRPr lang="en-US" sz="1800" dirty="0"/>
          </a:p>
        </p:txBody>
      </p:sp>
      <p:sp>
        <p:nvSpPr>
          <p:cNvPr id="14" name="Shape 12"/>
          <p:cNvSpPr/>
          <p:nvPr/>
        </p:nvSpPr>
        <p:spPr>
          <a:xfrm>
            <a:off x="457200" y="3310128"/>
            <a:ext cx="457200" cy="457200"/>
          </a:xfrm>
          <a:prstGeom prst="ellipse">
            <a:avLst/>
          </a:prstGeom>
          <a:solidFill>
            <a:srgbClr val="1E4A6E"/>
          </a:solidFill>
          <a:ln w="12700">
            <a:solidFill>
              <a:srgbClr val="1E4A6E"/>
            </a:solidFill>
            <a:prstDash val="solid"/>
          </a:ln>
        </p:spPr>
      </p:sp>
      <p:sp>
        <p:nvSpPr>
          <p:cNvPr id="15" name="Text 13"/>
          <p:cNvSpPr/>
          <p:nvPr/>
        </p:nvSpPr>
        <p:spPr>
          <a:xfrm>
            <a:off x="457200" y="33101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メイリオ" pitchFamily="34" charset="0"/>
                <a:ea typeface="メイリオ" pitchFamily="34" charset="-122"/>
                <a:cs typeface="メイリオ" pitchFamily="34" charset="-120"/>
              </a:rPr>
              <a:t>4</a:t>
            </a:r>
            <a:endParaRPr lang="en-US" sz="1800" dirty="0"/>
          </a:p>
        </p:txBody>
      </p:sp>
      <p:sp>
        <p:nvSpPr>
          <p:cNvPr id="16" name="Text 14"/>
          <p:cNvSpPr/>
          <p:nvPr/>
        </p:nvSpPr>
        <p:spPr>
          <a:xfrm>
            <a:off x="1143000" y="3236976"/>
            <a:ext cx="7543800" cy="603504"/>
          </a:xfrm>
          <a:prstGeom prst="rect">
            <a:avLst/>
          </a:prstGeom>
          <a:noFill/>
          <a:ln/>
        </p:spPr>
        <p:txBody>
          <a:bodyPr wrap="square" lIns="0" tIns="0" rIns="0" bIns="0" rtlCol="0" anchor="ctr"/>
          <a:lstStyle/>
          <a:p>
            <a:pPr indent="0" marL="0">
              <a:buNone/>
            </a:pPr>
            <a:r>
              <a:rPr lang="en-US" sz="1900" dirty="0">
                <a:solidFill>
                  <a:srgbClr val="12324A"/>
                </a:solidFill>
                <a:latin typeface="メイリオ" pitchFamily="34" charset="0"/>
                <a:ea typeface="メイリオ" pitchFamily="34" charset="-122"/>
                <a:cs typeface="メイリオ" pitchFamily="34" charset="-120"/>
              </a:rPr>
              <a:t>心不全では、ラインを基準に </a:t>
            </a:r>
            <a:pPr indent="0" marL="0">
              <a:buNone/>
            </a:pPr>
            <a:r>
              <a:rPr lang="en-US" sz="1900" b="1" dirty="0">
                <a:solidFill>
                  <a:srgbClr val="12324A"/>
                </a:solidFill>
                <a:latin typeface="メイリオ" pitchFamily="34" charset="0"/>
                <a:ea typeface="メイリオ" pitchFamily="34" charset="-122"/>
                <a:cs typeface="メイリオ" pitchFamily="34" charset="-120"/>
              </a:rPr>
              <a:t>ICU・LVAD・ICD停止・緩和ケア</a:t>
            </a:r>
            <a:pPr indent="0" marL="0">
              <a:buNone/>
            </a:pPr>
            <a:r>
              <a:rPr lang="en-US" sz="1900" dirty="0">
                <a:solidFill>
                  <a:srgbClr val="12324A"/>
                </a:solidFill>
                <a:latin typeface="メイリオ" pitchFamily="34" charset="0"/>
                <a:ea typeface="メイリオ" pitchFamily="34" charset="-122"/>
                <a:cs typeface="メイリオ" pitchFamily="34" charset="-120"/>
              </a:rPr>
              <a:t> を判断する</a:t>
            </a:r>
            <a:endParaRPr lang="en-US" sz="1800" dirty="0"/>
          </a:p>
        </p:txBody>
      </p:sp>
      <p:sp>
        <p:nvSpPr>
          <p:cNvPr id="17" name="Shape 15"/>
          <p:cNvSpPr/>
          <p:nvPr/>
        </p:nvSpPr>
        <p:spPr>
          <a:xfrm>
            <a:off x="457200" y="4023360"/>
            <a:ext cx="457200" cy="457200"/>
          </a:xfrm>
          <a:prstGeom prst="ellipse">
            <a:avLst/>
          </a:prstGeom>
          <a:solidFill>
            <a:srgbClr val="1E4A6E"/>
          </a:solidFill>
          <a:ln w="12700">
            <a:solidFill>
              <a:srgbClr val="1E4A6E"/>
            </a:solidFill>
            <a:prstDash val="solid"/>
          </a:ln>
        </p:spPr>
      </p:sp>
      <p:sp>
        <p:nvSpPr>
          <p:cNvPr id="18" name="Text 16"/>
          <p:cNvSpPr/>
          <p:nvPr/>
        </p:nvSpPr>
        <p:spPr>
          <a:xfrm>
            <a:off x="457200" y="4023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メイリオ" pitchFamily="34" charset="0"/>
                <a:ea typeface="メイリオ" pitchFamily="34" charset="-122"/>
                <a:cs typeface="メイリオ" pitchFamily="34" charset="-120"/>
              </a:rPr>
              <a:t>5</a:t>
            </a:r>
            <a:endParaRPr lang="en-US" sz="1800" dirty="0"/>
          </a:p>
        </p:txBody>
      </p:sp>
      <p:sp>
        <p:nvSpPr>
          <p:cNvPr id="19" name="Text 17"/>
          <p:cNvSpPr/>
          <p:nvPr/>
        </p:nvSpPr>
        <p:spPr>
          <a:xfrm>
            <a:off x="1143000" y="3950208"/>
            <a:ext cx="7543800" cy="603504"/>
          </a:xfrm>
          <a:prstGeom prst="rect">
            <a:avLst/>
          </a:prstGeom>
          <a:noFill/>
          <a:ln/>
        </p:spPr>
        <p:txBody>
          <a:bodyPr wrap="square" lIns="0" tIns="0" rIns="0" bIns="0" rtlCol="0" anchor="ctr"/>
          <a:lstStyle/>
          <a:p>
            <a:pPr indent="0" marL="0">
              <a:buNone/>
            </a:pPr>
            <a:r>
              <a:rPr lang="en-US" sz="1900" b="1" dirty="0">
                <a:solidFill>
                  <a:srgbClr val="12324A"/>
                </a:solidFill>
                <a:latin typeface="メイリオ" pitchFamily="34" charset="0"/>
                <a:ea typeface="メイリオ" pitchFamily="34" charset="-122"/>
                <a:cs typeface="メイリオ" pitchFamily="34" charset="-120"/>
              </a:rPr>
              <a:t>ラインは動く。</a:t>
            </a:r>
            <a:pPr indent="0" marL="0">
              <a:buNone/>
            </a:pPr>
            <a:r>
              <a:rPr lang="en-US" sz="1900" dirty="0">
                <a:solidFill>
                  <a:srgbClr val="12324A"/>
                </a:solidFill>
                <a:latin typeface="メイリオ" pitchFamily="34" charset="0"/>
                <a:ea typeface="メイリオ" pitchFamily="34" charset="-122"/>
                <a:cs typeface="メイリオ" pitchFamily="34" charset="-120"/>
              </a:rPr>
              <a:t>病状の節目ごとに再確認する</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0" y="4814316"/>
            <a:ext cx="2651760" cy="237744"/>
          </a:xfrm>
          <a:prstGeom prst="rect">
            <a:avLst/>
          </a:prstGeom>
          <a:noFill/>
          <a:ln/>
        </p:spPr>
        <p:txBody>
          <a:bodyPr wrap="square" lIns="0" tIns="0" rIns="0" bIns="0" rtlCol="0" anchor="ctr"/>
          <a:lstStyle/>
          <a:p>
            <a:pPr algn="r" indent="0" marL="0">
              <a:buNone/>
            </a:pPr>
            <a:r>
              <a:rPr lang="en-US" sz="1200" dirty="0">
                <a:solidFill>
                  <a:srgbClr val="12324A"/>
                </a:solidFill>
                <a:latin typeface="メイリオ" pitchFamily="34" charset="0"/>
                <a:ea typeface="メイリオ" pitchFamily="34" charset="-122"/>
                <a:cs typeface="メイリオ" pitchFamily="34" charset="-120"/>
              </a:rPr>
              <a:t>ACPのコミュニケーション  19</a:t>
            </a:r>
            <a:endParaRPr lang="en-US" sz="1200" dirty="0"/>
          </a:p>
        </p:txBody>
      </p:sp>
      <p:sp>
        <p:nvSpPr>
          <p:cNvPr id="3" name="Shape 1"/>
          <p:cNvSpPr/>
          <p:nvPr/>
        </p:nvSpPr>
        <p:spPr>
          <a:xfrm>
            <a:off x="0" y="0"/>
            <a:ext cx="146304" cy="5143500"/>
          </a:xfrm>
          <a:prstGeom prst="rect">
            <a:avLst/>
          </a:prstGeom>
          <a:solidFill>
            <a:srgbClr val="1E4A6E"/>
          </a:solidFill>
          <a:ln w="12700">
            <a:solidFill>
              <a:srgbClr val="1E4A6E"/>
            </a:solidFill>
            <a:prstDash val="solid"/>
          </a:ln>
        </p:spPr>
      </p:sp>
      <p:sp>
        <p:nvSpPr>
          <p:cNvPr id="4" name="Text 2"/>
          <p:cNvSpPr/>
          <p:nvPr/>
        </p:nvSpPr>
        <p:spPr>
          <a:xfrm>
            <a:off x="457200" y="256032"/>
            <a:ext cx="8229600" cy="566928"/>
          </a:xfrm>
          <a:prstGeom prst="rect">
            <a:avLst/>
          </a:prstGeom>
          <a:noFill/>
          <a:ln/>
        </p:spPr>
        <p:txBody>
          <a:bodyPr wrap="square" lIns="0" tIns="0" rIns="0" bIns="0" rtlCol="0" anchor="ctr"/>
          <a:lstStyle/>
          <a:p>
            <a:pPr indent="0" marL="0">
              <a:buNone/>
            </a:pPr>
            <a:r>
              <a:rPr lang="en-US" sz="3000" b="1" dirty="0">
                <a:solidFill>
                  <a:srgbClr val="12324A"/>
                </a:solidFill>
                <a:latin typeface="メイリオ" pitchFamily="34" charset="0"/>
                <a:ea typeface="メイリオ" pitchFamily="34" charset="-122"/>
                <a:cs typeface="メイリオ" pitchFamily="34" charset="-120"/>
              </a:rPr>
              <a:t>参考文献・資料</a:t>
            </a:r>
            <a:endParaRPr lang="en-US" sz="3000" dirty="0"/>
          </a:p>
        </p:txBody>
      </p:sp>
      <p:sp>
        <p:nvSpPr>
          <p:cNvPr id="5" name="Text 3"/>
          <p:cNvSpPr/>
          <p:nvPr/>
        </p:nvSpPr>
        <p:spPr>
          <a:xfrm>
            <a:off x="457200" y="1005840"/>
            <a:ext cx="8229600" cy="3566160"/>
          </a:xfrm>
          <a:prstGeom prst="rect">
            <a:avLst/>
          </a:prstGeom>
          <a:noFill/>
          <a:ln/>
        </p:spPr>
        <p:txBody>
          <a:bodyPr wrap="square" lIns="0" tIns="0" rIns="0" bIns="0" rtlCol="0" anchor="t"/>
          <a:lstStyle/>
          <a:p>
            <a:pPr indent="0" marL="0">
              <a:spcAft>
                <a:spcPts val="500"/>
              </a:spcAft>
              <a:buNone/>
            </a:pPr>
            <a:r>
              <a:rPr lang="en-US" sz="1300" dirty="0">
                <a:solidFill>
                  <a:srgbClr val="12324A"/>
                </a:solidFill>
                <a:latin typeface="メイリオ" pitchFamily="34" charset="0"/>
                <a:ea typeface="メイリオ" pitchFamily="34" charset="-122"/>
                <a:cs typeface="メイリオ" pitchFamily="34" charset="-120"/>
              </a:rPr>
              <a:t>1. Ariadne Labs. Serious Illness Conversation Guide（2023年改訂版）</a:t>
            </a:r>
            <a:endParaRPr lang="en-US" sz="1300" dirty="0"/>
          </a:p>
          <a:p>
            <a:pPr indent="0" marL="0">
              <a:spcAft>
                <a:spcPts val="500"/>
              </a:spcAft>
              <a:buNone/>
            </a:pPr>
            <a:r>
              <a:rPr lang="en-US" sz="1300" dirty="0">
                <a:solidFill>
                  <a:srgbClr val="12324A"/>
                </a:solidFill>
                <a:latin typeface="メイリオ" pitchFamily="34" charset="0"/>
                <a:ea typeface="メイリオ" pitchFamily="34" charset="-122"/>
                <a:cs typeface="メイリオ" pitchFamily="34" charset="-120"/>
              </a:rPr>
              <a:t>2. Ariadne Labs. Updates Serious Illness Conversation Guide to Foster Equity and Inclusivity. 2023</a:t>
            </a:r>
            <a:endParaRPr lang="en-US" sz="1300" dirty="0"/>
          </a:p>
          <a:p>
            <a:pPr indent="0" marL="0">
              <a:spcAft>
                <a:spcPts val="500"/>
              </a:spcAft>
              <a:buNone/>
            </a:pPr>
            <a:r>
              <a:rPr lang="en-US" sz="1300" dirty="0">
                <a:solidFill>
                  <a:srgbClr val="12324A"/>
                </a:solidFill>
                <a:latin typeface="メイリオ" pitchFamily="34" charset="0"/>
                <a:ea typeface="メイリオ" pitchFamily="34" charset="-122"/>
                <a:cs typeface="メイリオ" pitchFamily="34" charset="-120"/>
              </a:rPr>
              <a:t>3. Why Asking About “Critical Abilities” Is Misguided. J Gen Intern Med. 2025</a:t>
            </a:r>
            <a:endParaRPr lang="en-US" sz="1300" dirty="0"/>
          </a:p>
          <a:p>
            <a:pPr indent="0" marL="0">
              <a:spcAft>
                <a:spcPts val="500"/>
              </a:spcAft>
              <a:buNone/>
            </a:pPr>
            <a:r>
              <a:rPr lang="en-US" sz="1300" dirty="0">
                <a:solidFill>
                  <a:srgbClr val="12324A"/>
                </a:solidFill>
                <a:latin typeface="メイリオ" pitchFamily="34" charset="0"/>
                <a:ea typeface="メイリオ" pitchFamily="34" charset="-122"/>
                <a:cs typeface="メイリオ" pitchFamily="34" charset="-120"/>
              </a:rPr>
              <a:t>4. 三重大学医学部附属病院 緩和ケアセンター. 重篤な疾患を持つ患者との話し合いの手引き（日本語版・解説版）</a:t>
            </a:r>
            <a:endParaRPr lang="en-US" sz="1300" dirty="0"/>
          </a:p>
          <a:p>
            <a:pPr indent="0" marL="0">
              <a:spcAft>
                <a:spcPts val="500"/>
              </a:spcAft>
              <a:buNone/>
            </a:pPr>
            <a:r>
              <a:rPr lang="en-US" sz="1300" dirty="0">
                <a:solidFill>
                  <a:srgbClr val="12324A"/>
                </a:solidFill>
                <a:latin typeface="メイリオ" pitchFamily="34" charset="0"/>
                <a:ea typeface="メイリオ" pitchFamily="34" charset="-122"/>
                <a:cs typeface="メイリオ" pitchFamily="34" charset="-120"/>
              </a:rPr>
              <a:t>5. Rubin EB, Buehler AE, Halpern SD. States Worse Than Death Among Hospitalized Patients With Serious Illnesses. JAMA Intern Med. 2016;176:1557-9</a:t>
            </a:r>
            <a:endParaRPr lang="en-US" sz="1300" dirty="0"/>
          </a:p>
          <a:p>
            <a:pPr indent="0" marL="0">
              <a:spcAft>
                <a:spcPts val="500"/>
              </a:spcAft>
              <a:buNone/>
            </a:pPr>
            <a:r>
              <a:rPr lang="en-US" sz="1300" dirty="0">
                <a:solidFill>
                  <a:srgbClr val="12324A"/>
                </a:solidFill>
                <a:latin typeface="メイリオ" pitchFamily="34" charset="0"/>
                <a:ea typeface="メイリオ" pitchFamily="34" charset="-122"/>
                <a:cs typeface="メイリオ" pitchFamily="34" charset="-120"/>
              </a:rPr>
              <a:t>6. Kitakata H, et al. Preferences on advance care planning and end-of-life care in patients hospitalized for heart failure. ESC Heart Fail. 2021;8:5102-11</a:t>
            </a:r>
            <a:endParaRPr lang="en-US" sz="1300" dirty="0"/>
          </a:p>
          <a:p>
            <a:pPr indent="0" marL="0">
              <a:spcAft>
                <a:spcPts val="500"/>
              </a:spcAft>
              <a:buNone/>
            </a:pPr>
            <a:r>
              <a:rPr lang="en-US" sz="1300" dirty="0">
                <a:solidFill>
                  <a:srgbClr val="12324A"/>
                </a:solidFill>
                <a:latin typeface="メイリオ" pitchFamily="34" charset="0"/>
                <a:ea typeface="メイリオ" pitchFamily="34" charset="-122"/>
                <a:cs typeface="メイリオ" pitchFamily="34" charset="-120"/>
              </a:rPr>
              <a:t>7. Preferences for life-sustaining treatments and advance directives among heart failure patients: a systematic review and meta-analysis. BMC Cardiovasc Disord. 2026</a:t>
            </a:r>
            <a:endParaRPr lang="en-US" sz="1300" dirty="0"/>
          </a:p>
          <a:p>
            <a:pPr indent="0" marL="0">
              <a:spcAft>
                <a:spcPts val="500"/>
              </a:spcAft>
              <a:buNone/>
            </a:pPr>
            <a:r>
              <a:rPr lang="en-US" sz="1300" dirty="0">
                <a:solidFill>
                  <a:srgbClr val="12324A"/>
                </a:solidFill>
                <a:latin typeface="メイリオ" pitchFamily="34" charset="0"/>
                <a:ea typeface="メイリオ" pitchFamily="34" charset="-122"/>
                <a:cs typeface="メイリオ" pitchFamily="34" charset="-120"/>
              </a:rPr>
              <a:t>8. 日本循環器学会／日本心不全学会. 2021年改訂版 循環器疾患における緩和ケアについての提言</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ACPのコミュニケーション</dc:title>
  <dc:subject>PptxGenJS Presentation</dc:subject>
  <dc:creator>PptxGenJS</dc:creator>
  <cp:lastModifiedBy>PptxGenJS</cp:lastModifiedBy>
  <cp:revision>1</cp:revision>
  <dcterms:created xsi:type="dcterms:W3CDTF">2026-09-25T00:43:01Z</dcterms:created>
  <dcterms:modified xsi:type="dcterms:W3CDTF">2026-09-25T00:43:01Z</dcterms:modified>
</cp:coreProperties>
</file>