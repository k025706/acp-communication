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ACP 直前エッセンス  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4A6E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会話の地図：これだけ覚える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548640"/>
          </a:xfrm>
          <a:prstGeom prst="rect">
            <a:avLst/>
          </a:prstGeom>
          <a:solidFill>
            <a:srgbClr val="DCEBF5"/>
          </a:solidFill>
          <a:ln w="15875">
            <a:solidFill>
              <a:srgbClr val="DCEB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960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  楽しみ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874520" y="14721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18488"/>
            <a:ext cx="3200400" cy="548640"/>
          </a:xfrm>
          <a:prstGeom prst="rect">
            <a:avLst/>
          </a:prstGeom>
          <a:solidFill>
            <a:srgbClr val="C4DDEE"/>
          </a:solidFill>
          <a:ln w="15875">
            <a:solidFill>
              <a:srgbClr val="C4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6184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  生きがい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874520" y="213055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76856"/>
            <a:ext cx="3200400" cy="548640"/>
          </a:xfrm>
          <a:prstGeom prst="rect">
            <a:avLst/>
          </a:prstGeom>
          <a:solidFill>
            <a:srgbClr val="F6DFC8"/>
          </a:solidFill>
          <a:ln w="15875">
            <a:solidFill>
              <a:srgbClr val="F6DF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76856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3  気がかり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874520" y="27889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↓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35224"/>
            <a:ext cx="3200400" cy="548640"/>
          </a:xfrm>
          <a:prstGeom prst="rect">
            <a:avLst/>
          </a:prstGeom>
          <a:solidFill>
            <a:srgbClr val="EFC0A4"/>
          </a:solidFill>
          <a:ln w="15875">
            <a:solidFill>
              <a:srgbClr val="EFC0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935224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23A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4  生きている意味がない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3931920" y="960120"/>
            <a:ext cx="2103120" cy="2523744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005840"/>
            <a:ext cx="192024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各段階で
行き来する
</a:t>
            </a:r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Tell me more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Why?</a:t>
            </a:r>
            <a:endParaRPr lang="en-US" sz="18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What else?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63640" y="960120"/>
            <a:ext cx="2423160" cy="2523744"/>
          </a:xfrm>
          <a:prstGeom prst="rect">
            <a:avLst/>
          </a:prstGeom>
          <a:solidFill>
            <a:srgbClr val="FBF0E4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005840"/>
            <a:ext cx="224028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A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ゴール
</a:t>
            </a:r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「ここより下は
受け入れられない」
</a:t>
            </a:r>
            <a:pPr algn="ctr"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という線の位置を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本人の言葉で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4F6F8"/>
          </a:solidFill>
          <a:ln w="15875">
            <a:solidFill>
              <a:srgbClr val="9FB3C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74904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線の位置は人それぞれ。</a:t>
            </a:r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医療者の想定で決めない。
</a:t>
            </a:r>
            <a:pPr indent="0" marL="0">
              <a:buNone/>
            </a:pPr>
            <a:r>
              <a:rPr lang="en-US" sz="1700" b="1" dirty="0">
                <a:solidFill>
                  <a:srgbClr val="C9661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そして線は動く</a:t>
            </a:r>
            <a:pPr indent="0" marL="0"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─ 節目ごとに確認し直す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ACP 直前エッセンス  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4A6E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そのまま使えるフレーズ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37160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導入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828800" y="914400"/>
            <a:ext cx="685800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914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〇〇さんが大事にしていることを、少し伺ってもいいですか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1444752"/>
            <a:ext cx="137160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447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楽しみ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28800" y="1444752"/>
            <a:ext cx="685800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11680" y="14447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最近、楽しみにしていることは何ですか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1975104"/>
            <a:ext cx="137160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975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生きがい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828800" y="1975104"/>
            <a:ext cx="685800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11680" y="1975104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生きがいや張り合いになっていることは何ですか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505456"/>
            <a:ext cx="137160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気がかり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828800" y="2505456"/>
            <a:ext cx="685800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505456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これから先のことで、気がかりなことはありますか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3035808"/>
            <a:ext cx="1371600" cy="457200"/>
          </a:xfrm>
          <a:prstGeom prst="rect">
            <a:avLst/>
          </a:prstGeom>
          <a:solidFill>
            <a:srgbClr val="B23A2B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358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下限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28800" y="3035808"/>
            <a:ext cx="6858000" cy="457200"/>
          </a:xfrm>
          <a:prstGeom prst="rect">
            <a:avLst/>
          </a:prstGeom>
          <a:solidFill>
            <a:srgbClr val="FBF0E4"/>
          </a:solidFill>
          <a:ln w="15875">
            <a:solidFill>
              <a:srgbClr val="FBF0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11680" y="303580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どんな状態になったら「生きている意味がない」と感じますか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深める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828800" y="3566160"/>
            <a:ext cx="685800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11680" y="35661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もう少し教えてください ／ どうしてそう思いますか ／ ほかには？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4096512"/>
            <a:ext cx="1371600" cy="457200"/>
          </a:xfrm>
          <a:prstGeom prst="rect">
            <a:avLst/>
          </a:prstGeom>
          <a:solidFill>
            <a:srgbClr val="1E4A6E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確認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828800" y="4096512"/>
            <a:ext cx="6858000" cy="457200"/>
          </a:xfrm>
          <a:prstGeom prst="rect">
            <a:avLst/>
          </a:prstGeom>
          <a:solidFill>
            <a:srgbClr val="EAF2F7"/>
          </a:solidFill>
          <a:ln w="15875">
            <a:solidFill>
              <a:srgbClr val="EAF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40965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つまり△△が一番受け入れがたい、ということで合っていますか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0" y="481431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ACP 直前エッセンス  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E4A6E"/>
          </a:solidFill>
          <a:ln w="12700">
            <a:solidFill>
              <a:srgbClr val="1E4A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やらないこと ／ 最後にやること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3611880"/>
          </a:xfrm>
          <a:prstGeom prst="rect">
            <a:avLst/>
          </a:prstGeom>
          <a:solidFill>
            <a:srgbClr val="FBF0E4"/>
          </a:solidFill>
          <a:ln w="15875">
            <a:solidFill>
              <a:srgbClr val="B23A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51560"/>
            <a:ext cx="3611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B23A2B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やらないこと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いきなり延命治療の希望を聞く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✕「迷惑をかけたくない」で止める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医療者の想定で線を引く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障害を「悪い状態」と決めつける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✕ 話したくない人に押し切る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09160" y="960120"/>
            <a:ext cx="3977640" cy="3611880"/>
          </a:xfrm>
          <a:prstGeom prst="rect">
            <a:avLst/>
          </a:prstGeom>
          <a:solidFill>
            <a:srgbClr val="EAF2F7"/>
          </a:solidFill>
          <a:ln w="15875">
            <a:solidFill>
              <a:srgbClr val="1E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51560"/>
            <a:ext cx="3611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最後にやること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要約して返し、本人に確認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代理意思決定者を確認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□「変わってよい」と伝える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本人の言葉のまま記録
</a:t>
            </a:r>
            <a:pPr indent="0" marL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700" dirty="0">
                <a:solidFill>
                  <a:srgbClr val="12324A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□ 次に確認する時期を決める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ACP 直前エッセンス</dc:title>
  <dc:subject>PptxGenJS Presentation</dc:subject>
  <dc:creator>PptxGenJS</dc:creator>
  <cp:lastModifiedBy>PptxGenJS</cp:lastModifiedBy>
  <cp:revision>1</cp:revision>
  <dcterms:created xsi:type="dcterms:W3CDTF">2026-09-25T00:43:01Z</dcterms:created>
  <dcterms:modified xsi:type="dcterms:W3CDTF">2026-09-25T00:43:01Z</dcterms:modified>
</cp:coreProperties>
</file>