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差し迫った場面で、5〜10分で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本人の価値観を治療に結びつける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20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ACPのコミュニケーション　差し迫った場面編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ふだんのACPと何が違うか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目的そのものを切り替える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0" y="1371600"/>
            <a:ext cx="3291840" cy="50292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ふだんのACP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749040" cy="50292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差し迫った場面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4712" cy="621792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38528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45920" y="1938528"/>
            <a:ext cx="3227832" cy="621792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93852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下限ラインを探して確定させる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1938528"/>
            <a:ext cx="3749040" cy="621792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9385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判断に必要な価値観を1〜2個つかむ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624328"/>
            <a:ext cx="1124712" cy="621792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24328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主導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645920" y="2624328"/>
            <a:ext cx="3227832" cy="621792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62432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本人の語りについていく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2624328"/>
            <a:ext cx="3749040" cy="621792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6243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医療者が推奨を示す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1124712" cy="621792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10128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時間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645920" y="3310128"/>
            <a:ext cx="3227832" cy="621792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331012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何回かに分けて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37760" y="3310128"/>
            <a:ext cx="3749040" cy="621792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3101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5〜10分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1124712" cy="621792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95928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問い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645920" y="3995928"/>
            <a:ext cx="3227832" cy="621792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99592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楽しみ → 生きがい → 気がかり → 下限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37760" y="3995928"/>
            <a:ext cx="3749040" cy="621792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959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大切なこと・避けたいことに直行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最大の原則：選択肢を並べて委ねない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B23A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メニュー方式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「挿管しますか？」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「心臓マッサージは？」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「透析は？」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365760" cy="457200"/>
          </a:xfrm>
          <a:prstGeom prst="rightArrow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097280"/>
            <a:ext cx="3749040" cy="2286000"/>
          </a:xfrm>
          <a:prstGeom prst="rect">
            <a:avLst/>
          </a:prstGeom>
          <a:solidFill>
            <a:srgbClr val="FBF0E4"/>
          </a:solidFill>
          <a:ln w="15875">
            <a:solidFill>
              <a:srgbClr val="C966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1887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価値観 → 推奨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価値観を聞いてから、
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医療者が方針を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まとめて提案する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急性期の本人・家族に治療を一つずつ選ばせるのは重すぎる。
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決断の重荷を医療者が引き受ける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ことが、家族の後悔を減らす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流れ：REMAPの5ステップ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VitalTalk の枠組みを急性期の型として使う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536192" cy="8686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Reframe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536192" cy="100584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見出しを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伝える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30552" y="1417320"/>
            <a:ext cx="1536192" cy="8686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4173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130552" y="23774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Expect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emotion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130552" y="3017520"/>
            <a:ext cx="1536192" cy="100584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30175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感情に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応える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03904" y="1417320"/>
            <a:ext cx="1536192" cy="86868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14173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803904" y="23774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03904" y="3017520"/>
            <a:ext cx="1536192" cy="100584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30175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価値観を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つかむ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77256" y="1417320"/>
            <a:ext cx="1536192" cy="8686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77256" y="14173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477256" y="23774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Align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77256" y="3017520"/>
            <a:ext cx="1536192" cy="100584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30175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要約して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返す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50608" y="1417320"/>
            <a:ext cx="1536192" cy="86868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4173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150608" y="23774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Propose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150608" y="3017520"/>
            <a:ext cx="1536192" cy="100584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30175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推奨を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示す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M（価値観）と P（推奨）が、ふだんのACPとの最大の違い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R・E：見出しを伝え、感情に応える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説明は短く、結論から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63040" cy="13258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Reframe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6766560" cy="13258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71600"/>
            <a:ext cx="6446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「心臓の働きがかなり落ちていて、
良くならない可能性があります」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数値や細かい所見は後回し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463040" cy="13258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Expect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emotion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2834640"/>
            <a:ext cx="6766560" cy="13258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834640"/>
            <a:ext cx="6446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「急なことで、驚かれましたよね」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数秒の沈黙を待つ。ここを飛ばすと、この後の話が入らない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M：価値観を3つの問いでつかむ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4段階のオープニングを圧縮する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48640" cy="548640"/>
          </a:xfrm>
          <a:prstGeom prst="ellipse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1371600"/>
            <a:ext cx="5394960" cy="694944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371600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「一番大事なことは何ですか」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← 楽しみ・生きがい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548640" cy="548640"/>
          </a:xfrm>
          <a:prstGeom prst="ellipse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88720" y="2194560"/>
            <a:ext cx="5394960" cy="694944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194560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「一番避けたいこと、こわいことは何ですか」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20840" y="219456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← 気がかり・下限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548640" cy="548640"/>
          </a:xfrm>
          <a:prstGeom prst="ellipse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88720" y="3017520"/>
            <a:ext cx="5394960" cy="694944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017520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「どこまでなら頑張れると思いますか」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20840" y="301752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← 下限の直接確認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フォローアップは1回だけ：</a:t>
            </a:r>
            <a:pPr indent="0" marL="0">
              <a:buNone/>
            </a:pPr>
            <a:r>
              <a:rPr lang="en-US" sz="16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「それはどうしてですか」</a:t>
            </a:r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で中身の厚みが変わる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A・P：要約して返し、推奨を示す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価値観と治療を一文でつなぐ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63040" cy="118872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Align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6766560" cy="118872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71600"/>
            <a:ext cx="6446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「つまり、家に帰れる見込みがあるなら頑張りたい。でも、話もできない状態が長く続くのは避けたい、ということですね」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463040" cy="146304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Propose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2697480"/>
            <a:ext cx="6766560" cy="146304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97480"/>
            <a:ext cx="6446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「それを伺ったうえで、私からの提案です。」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今夜は薬で全力を尽くし、必要なら呼吸器も使います。数日で見込みが乏しければ、一度立ち止まって相談させてください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推奨は「本人の言葉」を根拠にして伝える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期間を区切った治療（time-limited trial）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「やる／やらない」の二択を避ける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560320" cy="100584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集中治療を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全力で行う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44952" y="1920240"/>
            <a:ext cx="219456" cy="365760"/>
          </a:xfrm>
          <a:prstGeom prst="rightArrow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期間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291840" y="1920240"/>
            <a:ext cx="2560320" cy="100584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例：3日間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評価項目を決める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79592" y="1920240"/>
            <a:ext cx="219456" cy="365760"/>
          </a:xfrm>
          <a:prstGeom prst="rightArrow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見直し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560320" cy="100584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本人の下限ラインに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戻れる見込みは？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128016" cy="237744"/>
          </a:xfrm>
          <a:prstGeom prst="rect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54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本人の下限ラインを </a:t>
            </a:r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見直しの基準</a:t>
            </a:r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として組み込める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128016" cy="237744"/>
          </a:xfrm>
          <a:prstGeom prst="rect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11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家族が「最初から諦めた」という </a:t>
            </a:r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罪悪感</a:t>
            </a:r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を持たずに済む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128016" cy="237744"/>
          </a:xfrm>
          <a:prstGeom prst="rect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治療反応が読みにくい </a:t>
            </a:r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心不全と相性がよい</a:t>
            </a:r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本人が話せないとき：家族との会話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問いを「どうしたいか」から「ご本人ならどう言うか」へ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BF0E4"/>
          </a:solidFill>
          <a:ln w="15875">
            <a:solidFill>
              <a:srgbClr val="C96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「ご家族に決めていただきたいのではありません。〇〇さんが今ここで話せたら何と言うか、それを教えてください」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402336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「ふだん、病気や入院のことで何かおっしゃっていましたか」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8229600" cy="402336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00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「似た状況の方を見て、何か言っていたことはありますか」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8229600" cy="402336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6557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「〇〇さんが大事にしてきたのは、どんなことでしたか」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最後は医療者の推奨として示し、</a:t>
            </a:r>
            <a:pPr indent="0" marL="0">
              <a:buNone/>
            </a:pPr>
            <a:r>
              <a:rPr lang="en-US" sz="1600" b="1" dirty="0">
                <a:solidFill>
                  <a:srgbClr val="B23A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家族が「決めた」形にしない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避けたい言い方と、代わりの言い方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017520" cy="45720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避けたい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566160" y="1051560"/>
            <a:ext cx="512064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代わりに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017520" cy="640080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0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全部やりますか？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66160" y="1600200"/>
            <a:ext cx="5120640" cy="6400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600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「目標に向けて、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効果が期待できる治療は全力で行います」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017520" cy="640080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31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延命治療はどうしますか？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66160" y="2331720"/>
            <a:ext cx="5120640" cy="6400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331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「回復が難しい場合、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どう過ごすのが〇〇さんらしいでしょうか」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017520" cy="640080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何もしないことになります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66160" y="3063240"/>
            <a:ext cx="5120640" cy="6400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30632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「苦痛を和らげる治療に力を注ぎます（ケアは続く）」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017520" cy="640080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挿管・CPR・透析を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一つずつ聞く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566160" y="3794760"/>
            <a:ext cx="5120640" cy="6400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794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「価値観を聞いてから、まとめて提案する」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例：救急外来の急性心不全（約5分）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384048" cy="347472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509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00200" y="914400"/>
            <a:ext cx="7086600" cy="420624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91440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心臓がかなり弱り、肺に水が溜まっています。呼吸器が必要になるかもしれません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26464"/>
            <a:ext cx="384048" cy="347472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26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38988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00200" y="1389888"/>
            <a:ext cx="7086600" cy="420624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38988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急なことで驚かれましたよね。（少し待つ）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901952"/>
            <a:ext cx="384048" cy="347472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186537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00200" y="1865376"/>
            <a:ext cx="7086600" cy="420624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186537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一番大事なことは何ですか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34086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00200" y="2340864"/>
            <a:ext cx="7086600" cy="420624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234086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家に帰って、妻と暮らすこと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852928"/>
            <a:ext cx="384048" cy="347472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52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2816352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医師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600200" y="2816352"/>
            <a:ext cx="7086600" cy="420624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81635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一番避けたいことは？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2918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600200" y="3291840"/>
            <a:ext cx="7086600" cy="420624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29184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管だらけで、わからないまま長く生かされること。兄がそうだった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03904"/>
            <a:ext cx="384048" cy="347472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039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376732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医師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600200" y="3767328"/>
            <a:ext cx="7086600" cy="420624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376732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家に帰れる見込みがあるなら頑張りたい、ということですね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279392"/>
            <a:ext cx="384048" cy="347472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79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424281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医師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600200" y="4242816"/>
            <a:ext cx="7086600" cy="420624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42428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薬で全力を尽くし、必要なら呼吸器も。数日で見込みが立たなければ奥さまと相談を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平時のACPが、緊急時の会話を支える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210312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外来で
</a:t>
            </a:r>
            <a:pPr algn="ctr" indent="0" marL="0">
              <a:buNone/>
            </a:pPr>
            <a:r>
              <a:rPr lang="en-US" sz="2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「楽しみ」を1回聞いておく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記録に残す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65760" cy="411480"/>
          </a:xfrm>
          <a:prstGeom prst="rightArrow">
            <a:avLst/>
          </a:prstGeom>
          <a:solidFill>
            <a:srgbClr val="C9661A"/>
          </a:solidFill>
          <a:ln w="12700">
            <a:solidFill>
              <a:srgbClr val="C96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188720"/>
            <a:ext cx="3840480" cy="2103120"/>
          </a:xfrm>
          <a:prstGeom prst="rect">
            <a:avLst/>
          </a:prstGeom>
          <a:solidFill>
            <a:srgbClr val="FBF0E4"/>
          </a:solidFill>
          <a:ln w="15875">
            <a:solidFill>
              <a:srgbClr val="C966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344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急性期に
</a:t>
            </a:r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「前に〇〇が生きがいだと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おっしゃっていましたね」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から入れる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緊急ACPがうまくいくかは、</a:t>
            </a:r>
            <a:pPr indent="0" marL="0">
              <a:buNone/>
            </a:pPr>
            <a:r>
              <a:rPr lang="en-US" sz="18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それまでに種がまかれているか</a:t>
            </a:r>
            <a:pPr indent="0" marL="0">
              <a:buNone/>
            </a:pPr>
            <a:r>
              <a:rPr lang="en-US" sz="18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でほぼ決まる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緊急ACPカード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475488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見出し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6583680" cy="475488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00584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今、〜がかなり悪く、良くならない可能性があります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02920" cy="475488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54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感情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1554480"/>
            <a:ext cx="6583680" cy="475488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55448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急なことで、驚かれましたよね（待つ）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502920" cy="475488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031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1031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価値観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03120" y="2103120"/>
            <a:ext cx="6583680" cy="475488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210312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一番大事なこと／一番避けたいこと／どこまで頑張れるか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26517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深める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03120" y="2651760"/>
            <a:ext cx="6583680" cy="475488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65176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それはどうしてですか（1回だけ）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502920" cy="475488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32004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03120" y="3200400"/>
            <a:ext cx="6583680" cy="475488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20040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つまり、〜ということですね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502920" cy="475488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37490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推奨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103120" y="3749040"/>
            <a:ext cx="6583680" cy="475488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3749040"/>
            <a:ext cx="6355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私からの提案です。〜まで全力で。〜日後に一緒に見直します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家族には：</a:t>
            </a:r>
            <a:pPr indent="0" marL="0">
              <a:buNone/>
            </a:pPr>
            <a:r>
              <a:rPr lang="en-US" sz="1500" b="1" dirty="0">
                <a:solidFill>
                  <a:srgbClr val="B23A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「ご本人なら何と言うと思いますか」</a:t>
            </a:r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決めさせない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 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参考文献・資料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 Childers JW, Back AL, Tulsky JA, Arnold RM. REMAP: A Framework for Goals of Care Conversations. J Oncol Pract. 2017;13(10):e844-50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 VitalTalk. REMAP（goals of care の会話の手引き）. vitaltalk.org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3. Quill TE, Holloway R. Time-limited trials near the end of life. JAMA. 2011;306(13):1483-4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4. 日本集中治療医学会・日本救急医学会・日本循環器学会. 救急・集中治療における終末期医療に関するガイドライン ～3学会からの提言～. 2014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5. 日本循環器学会／日本心不全学会. 2021年改訂版 循環器疾患における緩和ケアについての提言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6. Ariadne Labs. Serious Illness Conversation Guide（2023年改訂版）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緊急ACP</dc:title>
  <dc:subject>PptxGenJS Presentation</dc:subject>
  <dc:creator>PptxGenJS</dc:creator>
  <cp:lastModifiedBy>PptxGenJS</cp:lastModifiedBy>
  <cp:revision>1</cp:revision>
  <dcterms:created xsi:type="dcterms:W3CDTF">2026-09-25T00:52:25Z</dcterms:created>
  <dcterms:modified xsi:type="dcterms:W3CDTF">2026-09-25T00:52:25Z</dcterms:modified>
</cp:coreProperties>
</file>